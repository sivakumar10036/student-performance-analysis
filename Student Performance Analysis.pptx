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3" r:id="rId12"/>
    <p:sldId id="266" r:id="rId13"/>
    <p:sldId id="274" r:id="rId14"/>
    <p:sldId id="267" r:id="rId15"/>
    <p:sldId id="268" r:id="rId16"/>
    <p:sldId id="270" r:id="rId17"/>
    <p:sldId id="271" r:id="rId18"/>
    <p:sldId id="272" r:id="rId19"/>
  </p:sldIdLst>
  <p:sldSz cx="18288000" cy="10287000"/>
  <p:notesSz cx="6858000" cy="9144000"/>
  <p:embeddedFontLst>
    <p:embeddedFont>
      <p:font typeface="Poppins" panose="00000500000000000000" pitchFamily="2" charset="0"/>
      <p:regular r:id="rId20"/>
      <p:bold r:id="rId21"/>
      <p:italic r:id="rId22"/>
      <p:boldItalic r:id="rId23"/>
    </p:embeddedFont>
    <p:embeddedFont>
      <p:font typeface="Poppins Bold" panose="00000800000000000000"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562"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8F6FF"/>
        </a:solidFill>
        <a:effectLst/>
      </p:bgPr>
    </p:bg>
    <p:spTree>
      <p:nvGrpSpPr>
        <p:cNvPr id="1" name=""/>
        <p:cNvGrpSpPr/>
        <p:nvPr/>
      </p:nvGrpSpPr>
      <p:grpSpPr>
        <a:xfrm>
          <a:off x="0" y="0"/>
          <a:ext cx="0" cy="0"/>
          <a:chOff x="0" y="0"/>
          <a:chExt cx="0" cy="0"/>
        </a:xfrm>
      </p:grpSpPr>
      <p:sp>
        <p:nvSpPr>
          <p:cNvPr id="2" name="TextBox 2"/>
          <p:cNvSpPr txBox="1"/>
          <p:nvPr/>
        </p:nvSpPr>
        <p:spPr>
          <a:xfrm>
            <a:off x="2208253" y="4305300"/>
            <a:ext cx="13364240" cy="838200"/>
          </a:xfrm>
          <a:prstGeom prst="rect">
            <a:avLst/>
          </a:prstGeom>
        </p:spPr>
        <p:txBody>
          <a:bodyPr lIns="0" tIns="0" rIns="0" bIns="0" rtlCol="0" anchor="t">
            <a:spAutoFit/>
          </a:bodyPr>
          <a:lstStyle/>
          <a:p>
            <a:pPr marL="0" lvl="0" indent="0" algn="l">
              <a:lnSpc>
                <a:spcPts val="5700"/>
              </a:lnSpc>
            </a:pPr>
            <a:r>
              <a:rPr lang="en-US" sz="6000" b="1">
                <a:solidFill>
                  <a:srgbClr val="1C74BB"/>
                </a:solidFill>
                <a:latin typeface="Poppins Bold"/>
                <a:ea typeface="Poppins Bold"/>
                <a:cs typeface="Poppins Bold"/>
                <a:sym typeface="Poppins Bold"/>
              </a:rPr>
              <a:t>STUDENT PERFORMANCE ANALYSIS</a:t>
            </a:r>
          </a:p>
        </p:txBody>
      </p:sp>
      <p:sp>
        <p:nvSpPr>
          <p:cNvPr id="3" name="Freeform 3"/>
          <p:cNvSpPr/>
          <p:nvPr/>
        </p:nvSpPr>
        <p:spPr>
          <a:xfrm rot="4644591">
            <a:off x="14264060" y="-3736254"/>
            <a:ext cx="8047880" cy="8132468"/>
          </a:xfrm>
          <a:custGeom>
            <a:avLst/>
            <a:gdLst/>
            <a:ahLst/>
            <a:cxnLst/>
            <a:rect l="l" t="t" r="r" b="b"/>
            <a:pathLst>
              <a:path w="8047880" h="8132468">
                <a:moveTo>
                  <a:pt x="0" y="0"/>
                </a:moveTo>
                <a:lnTo>
                  <a:pt x="8047880" y="0"/>
                </a:lnTo>
                <a:lnTo>
                  <a:pt x="8047880" y="8132467"/>
                </a:lnTo>
                <a:lnTo>
                  <a:pt x="0" y="813246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rot="934430">
            <a:off x="-2995240" y="5755692"/>
            <a:ext cx="8047880" cy="8132468"/>
          </a:xfrm>
          <a:custGeom>
            <a:avLst/>
            <a:gdLst/>
            <a:ahLst/>
            <a:cxnLst/>
            <a:rect l="l" t="t" r="r" b="b"/>
            <a:pathLst>
              <a:path w="8047880" h="8132468">
                <a:moveTo>
                  <a:pt x="0" y="0"/>
                </a:moveTo>
                <a:lnTo>
                  <a:pt x="8047880" y="0"/>
                </a:lnTo>
                <a:lnTo>
                  <a:pt x="8047880" y="8132468"/>
                </a:lnTo>
                <a:lnTo>
                  <a:pt x="0" y="813246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1387408" y="6791909"/>
            <a:ext cx="5472377" cy="3358671"/>
          </a:xfrm>
          <a:custGeom>
            <a:avLst/>
            <a:gdLst/>
            <a:ahLst/>
            <a:cxnLst/>
            <a:rect l="l" t="t" r="r" b="b"/>
            <a:pathLst>
              <a:path w="5472377" h="3358671">
                <a:moveTo>
                  <a:pt x="0" y="0"/>
                </a:moveTo>
                <a:lnTo>
                  <a:pt x="5472377" y="0"/>
                </a:lnTo>
                <a:lnTo>
                  <a:pt x="5472377" y="3358671"/>
                </a:lnTo>
                <a:lnTo>
                  <a:pt x="0" y="3358671"/>
                </a:lnTo>
                <a:lnTo>
                  <a:pt x="0" y="0"/>
                </a:lnTo>
                <a:close/>
              </a:path>
            </a:pathLst>
          </a:custGeom>
          <a:blipFill>
            <a:blip r:embed="rId3"/>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8F6FF"/>
        </a:solidFill>
        <a:effectLst/>
      </p:bgPr>
    </p:bg>
    <p:spTree>
      <p:nvGrpSpPr>
        <p:cNvPr id="1" name=""/>
        <p:cNvGrpSpPr/>
        <p:nvPr/>
      </p:nvGrpSpPr>
      <p:grpSpPr>
        <a:xfrm>
          <a:off x="0" y="0"/>
          <a:ext cx="0" cy="0"/>
          <a:chOff x="0" y="0"/>
          <a:chExt cx="0" cy="0"/>
        </a:xfrm>
      </p:grpSpPr>
      <p:sp>
        <p:nvSpPr>
          <p:cNvPr id="2" name="Freeform 2"/>
          <p:cNvSpPr/>
          <p:nvPr/>
        </p:nvSpPr>
        <p:spPr>
          <a:xfrm rot="-721374">
            <a:off x="-1084773" y="-3327728"/>
            <a:ext cx="5662001" cy="5721512"/>
          </a:xfrm>
          <a:custGeom>
            <a:avLst/>
            <a:gdLst/>
            <a:ahLst/>
            <a:cxnLst/>
            <a:rect l="l" t="t" r="r" b="b"/>
            <a:pathLst>
              <a:path w="5662001" h="5721512">
                <a:moveTo>
                  <a:pt x="0" y="0"/>
                </a:moveTo>
                <a:lnTo>
                  <a:pt x="5662002" y="0"/>
                </a:lnTo>
                <a:lnTo>
                  <a:pt x="5662002"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3855666">
            <a:off x="15046734" y="6345056"/>
            <a:ext cx="5662001" cy="5721512"/>
          </a:xfrm>
          <a:custGeom>
            <a:avLst/>
            <a:gdLst/>
            <a:ahLst/>
            <a:cxnLst/>
            <a:rect l="l" t="t" r="r" b="b"/>
            <a:pathLst>
              <a:path w="5662001" h="5721512">
                <a:moveTo>
                  <a:pt x="0" y="0"/>
                </a:moveTo>
                <a:lnTo>
                  <a:pt x="5662001" y="0"/>
                </a:lnTo>
                <a:lnTo>
                  <a:pt x="5662001"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3810000" y="2705100"/>
            <a:ext cx="9333905" cy="1355115"/>
          </a:xfrm>
          <a:prstGeom prst="rect">
            <a:avLst/>
          </a:prstGeom>
        </p:spPr>
        <p:txBody>
          <a:bodyPr lIns="0" tIns="0" rIns="0" bIns="0" rtlCol="0" anchor="t">
            <a:spAutoFit/>
          </a:bodyPr>
          <a:lstStyle/>
          <a:p>
            <a:pPr algn="ctr">
              <a:lnSpc>
                <a:spcPts val="12053"/>
              </a:lnSpc>
              <a:spcBef>
                <a:spcPct val="0"/>
              </a:spcBef>
            </a:pPr>
            <a:r>
              <a:rPr lang="en-IN" sz="5400" dirty="0">
                <a:solidFill>
                  <a:srgbClr val="0070C0"/>
                </a:solidFill>
                <a:latin typeface="Poppins" panose="00000500000000000000" pitchFamily="2" charset="0"/>
                <a:cs typeface="Poppins" panose="00000500000000000000" pitchFamily="2" charset="0"/>
              </a:rPr>
              <a:t>PRESENTED BY </a:t>
            </a:r>
            <a:endParaRPr lang="en-US" sz="5400" b="1" dirty="0">
              <a:solidFill>
                <a:srgbClr val="0070C0"/>
              </a:solidFill>
              <a:latin typeface="Poppins" panose="00000500000000000000" pitchFamily="2" charset="0"/>
              <a:ea typeface="Poppins Bold"/>
              <a:cs typeface="Poppins" panose="00000500000000000000" pitchFamily="2" charset="0"/>
              <a:sym typeface="Poppins Bold"/>
            </a:endParaRPr>
          </a:p>
        </p:txBody>
      </p:sp>
      <p:sp>
        <p:nvSpPr>
          <p:cNvPr id="5" name="TextBox 5"/>
          <p:cNvSpPr txBox="1"/>
          <p:nvPr/>
        </p:nvSpPr>
        <p:spPr>
          <a:xfrm>
            <a:off x="4188015" y="4786386"/>
            <a:ext cx="11234770" cy="1494640"/>
          </a:xfrm>
          <a:prstGeom prst="rect">
            <a:avLst/>
          </a:prstGeom>
        </p:spPr>
        <p:txBody>
          <a:bodyPr wrap="square" lIns="0" tIns="0" rIns="0" bIns="0" rtlCol="0" anchor="t">
            <a:spAutoFit/>
          </a:bodyPr>
          <a:lstStyle/>
          <a:p>
            <a:pPr algn="just">
              <a:lnSpc>
                <a:spcPts val="5736"/>
              </a:lnSpc>
            </a:pPr>
            <a:r>
              <a:rPr lang="en-US" sz="6000" dirty="0">
                <a:solidFill>
                  <a:srgbClr val="1C74BB"/>
                </a:solidFill>
                <a:latin typeface="Poppins"/>
                <a:ea typeface="Poppins"/>
                <a:cs typeface="Poppins"/>
                <a:sym typeface="Poppins"/>
              </a:rPr>
              <a:t>Name      : </a:t>
            </a:r>
            <a:r>
              <a:rPr lang="en-US" sz="6000" dirty="0" err="1">
                <a:solidFill>
                  <a:srgbClr val="1C74BB"/>
                </a:solidFill>
                <a:latin typeface="Poppins"/>
                <a:ea typeface="Poppins"/>
                <a:cs typeface="Poppins"/>
                <a:sym typeface="Poppins"/>
              </a:rPr>
              <a:t>R.Siva</a:t>
            </a:r>
            <a:r>
              <a:rPr lang="en-US" sz="6000" dirty="0">
                <a:solidFill>
                  <a:srgbClr val="1C74BB"/>
                </a:solidFill>
                <a:latin typeface="Poppins"/>
                <a:ea typeface="Poppins"/>
                <a:cs typeface="Poppins"/>
                <a:sym typeface="Poppins"/>
              </a:rPr>
              <a:t> Kumar </a:t>
            </a:r>
          </a:p>
          <a:p>
            <a:pPr algn="just">
              <a:lnSpc>
                <a:spcPts val="5736"/>
              </a:lnSpc>
            </a:pPr>
            <a:r>
              <a:rPr lang="en-US" sz="6000">
                <a:solidFill>
                  <a:srgbClr val="1C74BB"/>
                </a:solidFill>
                <a:latin typeface="Poppins"/>
                <a:ea typeface="Poppins"/>
                <a:cs typeface="Poppins"/>
                <a:sym typeface="Poppins"/>
              </a:rPr>
              <a:t>Reg No</a:t>
            </a:r>
            <a:r>
              <a:rPr lang="en-US" sz="6000" dirty="0">
                <a:solidFill>
                  <a:srgbClr val="1C74BB"/>
                </a:solidFill>
                <a:latin typeface="Poppins"/>
                <a:ea typeface="Poppins"/>
                <a:cs typeface="Poppins"/>
                <a:sym typeface="Poppins"/>
              </a:rPr>
              <a:t>.    : 23BCE9372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F6FF"/>
        </a:solidFill>
        <a:effectLst/>
      </p:bgPr>
    </p:bg>
    <p:spTree>
      <p:nvGrpSpPr>
        <p:cNvPr id="1" name=""/>
        <p:cNvGrpSpPr/>
        <p:nvPr/>
      </p:nvGrpSpPr>
      <p:grpSpPr>
        <a:xfrm>
          <a:off x="0" y="0"/>
          <a:ext cx="0" cy="0"/>
          <a:chOff x="0" y="0"/>
          <a:chExt cx="0" cy="0"/>
        </a:xfrm>
      </p:grpSpPr>
      <p:sp>
        <p:nvSpPr>
          <p:cNvPr id="2" name="Freeform 2"/>
          <p:cNvSpPr/>
          <p:nvPr/>
        </p:nvSpPr>
        <p:spPr>
          <a:xfrm rot="-3855666">
            <a:off x="15046734" y="6345056"/>
            <a:ext cx="5662001" cy="5721512"/>
          </a:xfrm>
          <a:custGeom>
            <a:avLst/>
            <a:gdLst/>
            <a:ahLst/>
            <a:cxnLst/>
            <a:rect l="l" t="t" r="r" b="b"/>
            <a:pathLst>
              <a:path w="5662001" h="5721512">
                <a:moveTo>
                  <a:pt x="0" y="0"/>
                </a:moveTo>
                <a:lnTo>
                  <a:pt x="5662001" y="0"/>
                </a:lnTo>
                <a:lnTo>
                  <a:pt x="5662001"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721374">
            <a:off x="-1084773" y="-3327728"/>
            <a:ext cx="5662001" cy="5721512"/>
          </a:xfrm>
          <a:custGeom>
            <a:avLst/>
            <a:gdLst/>
            <a:ahLst/>
            <a:cxnLst/>
            <a:rect l="l" t="t" r="r" b="b"/>
            <a:pathLst>
              <a:path w="5662001" h="5721512">
                <a:moveTo>
                  <a:pt x="0" y="0"/>
                </a:moveTo>
                <a:lnTo>
                  <a:pt x="5662002" y="0"/>
                </a:lnTo>
                <a:lnTo>
                  <a:pt x="5662002"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715390" y="8128033"/>
            <a:ext cx="1566543" cy="156654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7D8FF"/>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7" name="Group 7"/>
          <p:cNvGrpSpPr/>
          <p:nvPr/>
        </p:nvGrpSpPr>
        <p:grpSpPr>
          <a:xfrm>
            <a:off x="2764456" y="9205812"/>
            <a:ext cx="11234139" cy="52488"/>
            <a:chOff x="0" y="0"/>
            <a:chExt cx="635000" cy="2967"/>
          </a:xfrm>
        </p:grpSpPr>
        <p:sp>
          <p:nvSpPr>
            <p:cNvPr id="8" name="Freeform 8"/>
            <p:cNvSpPr/>
            <p:nvPr/>
          </p:nvSpPr>
          <p:spPr>
            <a:xfrm>
              <a:off x="0" y="0"/>
              <a:ext cx="635000" cy="2967"/>
            </a:xfrm>
            <a:custGeom>
              <a:avLst/>
              <a:gdLst/>
              <a:ahLst/>
              <a:cxnLst/>
              <a:rect l="l" t="t" r="r" b="b"/>
              <a:pathLst>
                <a:path w="635000" h="2967">
                  <a:moveTo>
                    <a:pt x="0" y="0"/>
                  </a:moveTo>
                  <a:lnTo>
                    <a:pt x="635000" y="0"/>
                  </a:lnTo>
                  <a:lnTo>
                    <a:pt x="635000" y="2967"/>
                  </a:lnTo>
                  <a:lnTo>
                    <a:pt x="0" y="2967"/>
                  </a:lnTo>
                  <a:close/>
                </a:path>
              </a:pathLst>
            </a:custGeom>
            <a:solidFill>
              <a:srgbClr val="81C1F4"/>
            </a:solidFill>
          </p:spPr>
        </p:sp>
        <p:sp>
          <p:nvSpPr>
            <p:cNvPr id="9" name="TextBox 9"/>
            <p:cNvSpPr txBox="1"/>
            <p:nvPr/>
          </p:nvSpPr>
          <p:spPr>
            <a:xfrm>
              <a:off x="0" y="-38100"/>
              <a:ext cx="635000" cy="41067"/>
            </a:xfrm>
            <a:prstGeom prst="rect">
              <a:avLst/>
            </a:prstGeom>
          </p:spPr>
          <p:txBody>
            <a:bodyPr lIns="50800" tIns="50800" rIns="50800" bIns="50800" rtlCol="0" anchor="ctr"/>
            <a:lstStyle/>
            <a:p>
              <a:pPr marL="0" lvl="0" indent="0" algn="ctr">
                <a:lnSpc>
                  <a:spcPts val="2659"/>
                </a:lnSpc>
              </a:pPr>
              <a:endParaRPr/>
            </a:p>
          </p:txBody>
        </p:sp>
      </p:grpSp>
      <p:grpSp>
        <p:nvGrpSpPr>
          <p:cNvPr id="10" name="Group 10"/>
          <p:cNvGrpSpPr/>
          <p:nvPr/>
        </p:nvGrpSpPr>
        <p:grpSpPr>
          <a:xfrm>
            <a:off x="2281934" y="3938165"/>
            <a:ext cx="13955028" cy="4248058"/>
            <a:chOff x="0" y="0"/>
            <a:chExt cx="1288084" cy="392106"/>
          </a:xfrm>
        </p:grpSpPr>
        <p:sp>
          <p:nvSpPr>
            <p:cNvPr id="11" name="Freeform 11"/>
            <p:cNvSpPr/>
            <p:nvPr/>
          </p:nvSpPr>
          <p:spPr>
            <a:xfrm>
              <a:off x="0" y="0"/>
              <a:ext cx="1288084" cy="392106"/>
            </a:xfrm>
            <a:custGeom>
              <a:avLst/>
              <a:gdLst/>
              <a:ahLst/>
              <a:cxnLst/>
              <a:rect l="l" t="t" r="r" b="b"/>
              <a:pathLst>
                <a:path w="1288084" h="392106">
                  <a:moveTo>
                    <a:pt x="10835" y="0"/>
                  </a:moveTo>
                  <a:lnTo>
                    <a:pt x="1277249" y="0"/>
                  </a:lnTo>
                  <a:cubicBezTo>
                    <a:pt x="1283233" y="0"/>
                    <a:pt x="1288084" y="4851"/>
                    <a:pt x="1288084" y="10835"/>
                  </a:cubicBezTo>
                  <a:lnTo>
                    <a:pt x="1288084" y="381271"/>
                  </a:lnTo>
                  <a:cubicBezTo>
                    <a:pt x="1288084" y="387255"/>
                    <a:pt x="1283233" y="392106"/>
                    <a:pt x="1277249" y="392106"/>
                  </a:cubicBezTo>
                  <a:lnTo>
                    <a:pt x="10835" y="392106"/>
                  </a:lnTo>
                  <a:cubicBezTo>
                    <a:pt x="4851" y="392106"/>
                    <a:pt x="0" y="387255"/>
                    <a:pt x="0" y="381271"/>
                  </a:cubicBezTo>
                  <a:lnTo>
                    <a:pt x="0" y="10835"/>
                  </a:lnTo>
                  <a:cubicBezTo>
                    <a:pt x="0" y="4851"/>
                    <a:pt x="4851" y="0"/>
                    <a:pt x="10835" y="0"/>
                  </a:cubicBezTo>
                  <a:close/>
                </a:path>
              </a:pathLst>
            </a:custGeom>
            <a:solidFill>
              <a:srgbClr val="D1EDFF"/>
            </a:solidFill>
          </p:spPr>
        </p:sp>
        <p:sp>
          <p:nvSpPr>
            <p:cNvPr id="12" name="TextBox 12"/>
            <p:cNvSpPr txBox="1"/>
            <p:nvPr/>
          </p:nvSpPr>
          <p:spPr>
            <a:xfrm>
              <a:off x="0" y="-38100"/>
              <a:ext cx="1288084" cy="430206"/>
            </a:xfrm>
            <a:prstGeom prst="rect">
              <a:avLst/>
            </a:prstGeom>
          </p:spPr>
          <p:txBody>
            <a:bodyPr lIns="50800" tIns="50800" rIns="50800" bIns="50800" rtlCol="0" anchor="ctr"/>
            <a:lstStyle/>
            <a:p>
              <a:pPr marL="0" lvl="0" indent="0" algn="ctr">
                <a:lnSpc>
                  <a:spcPts val="2659"/>
                </a:lnSpc>
              </a:pPr>
              <a:endParaRPr/>
            </a:p>
          </p:txBody>
        </p:sp>
      </p:grpSp>
      <p:sp>
        <p:nvSpPr>
          <p:cNvPr id="13" name="Freeform 13"/>
          <p:cNvSpPr/>
          <p:nvPr/>
        </p:nvSpPr>
        <p:spPr>
          <a:xfrm>
            <a:off x="2764456" y="4435041"/>
            <a:ext cx="952224" cy="978313"/>
          </a:xfrm>
          <a:custGeom>
            <a:avLst/>
            <a:gdLst/>
            <a:ahLst/>
            <a:cxnLst/>
            <a:rect l="l" t="t" r="r" b="b"/>
            <a:pathLst>
              <a:path w="952224" h="978313">
                <a:moveTo>
                  <a:pt x="0" y="0"/>
                </a:moveTo>
                <a:lnTo>
                  <a:pt x="952224" y="0"/>
                </a:lnTo>
                <a:lnTo>
                  <a:pt x="952224" y="978313"/>
                </a:lnTo>
                <a:lnTo>
                  <a:pt x="0" y="97831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4" name="TextBox 14"/>
          <p:cNvSpPr txBox="1"/>
          <p:nvPr/>
        </p:nvSpPr>
        <p:spPr>
          <a:xfrm>
            <a:off x="4009447" y="4378822"/>
            <a:ext cx="11706856" cy="3337067"/>
          </a:xfrm>
          <a:prstGeom prst="rect">
            <a:avLst/>
          </a:prstGeom>
        </p:spPr>
        <p:txBody>
          <a:bodyPr lIns="0" tIns="0" rIns="0" bIns="0" rtlCol="0" anchor="t">
            <a:spAutoFit/>
          </a:bodyPr>
          <a:lstStyle/>
          <a:p>
            <a:pPr lvl="0" algn="just">
              <a:lnSpc>
                <a:spcPts val="2639"/>
              </a:lnSpc>
            </a:pPr>
            <a:r>
              <a:rPr lang="en-IN" sz="2400" dirty="0">
                <a:solidFill>
                  <a:srgbClr val="0070C0"/>
                </a:solidFill>
                <a:latin typeface="Poppins" panose="00000500000000000000" pitchFamily="2" charset="0"/>
                <a:cs typeface="Poppins" panose="00000500000000000000" pitchFamily="2" charset="0"/>
              </a:rPr>
              <a:t>The Student Performance Analysis system is designed using Machine Learning techniques to </a:t>
            </a:r>
            <a:r>
              <a:rPr lang="en-IN" sz="2400" dirty="0" err="1">
                <a:solidFill>
                  <a:srgbClr val="0070C0"/>
                </a:solidFill>
                <a:latin typeface="Poppins" panose="00000500000000000000" pitchFamily="2" charset="0"/>
                <a:cs typeface="Poppins" panose="00000500000000000000" pitchFamily="2" charset="0"/>
              </a:rPr>
              <a:t>analyze</a:t>
            </a:r>
            <a:r>
              <a:rPr lang="en-IN" sz="2400" dirty="0">
                <a:solidFill>
                  <a:srgbClr val="0070C0"/>
                </a:solidFill>
                <a:latin typeface="Poppins" panose="00000500000000000000" pitchFamily="2" charset="0"/>
                <a:cs typeface="Poppins" panose="00000500000000000000" pitchFamily="2" charset="0"/>
              </a:rPr>
              <a:t> and improve student academic performance. The system collects student data such as marks and attendance, processes it, and generates meaningful insights through analysis and visualization. It uses Machine Learning algorithms such as Decision Tree or Logistic Regression to predict future student performance based on historical data. The application provides an easy-to-use interface for educators to monitor performance, identify weak students, and make informed decisions. Overall, the system enhances academic analysis by combining Machine Learning, data visualization, and predictive intelligence.</a:t>
            </a:r>
            <a:endParaRPr lang="en-US" sz="2315" dirty="0">
              <a:solidFill>
                <a:srgbClr val="0070C0"/>
              </a:solidFill>
              <a:latin typeface="Poppins" panose="00000500000000000000" pitchFamily="2" charset="0"/>
              <a:ea typeface="Poppins"/>
              <a:cs typeface="Poppins" panose="00000500000000000000" pitchFamily="2" charset="0"/>
              <a:sym typeface="Poppins"/>
            </a:endParaRPr>
          </a:p>
        </p:txBody>
      </p:sp>
      <p:sp>
        <p:nvSpPr>
          <p:cNvPr id="15" name="TextBox 15"/>
          <p:cNvSpPr txBox="1"/>
          <p:nvPr/>
        </p:nvSpPr>
        <p:spPr>
          <a:xfrm>
            <a:off x="2764456" y="2397833"/>
            <a:ext cx="13073588" cy="1178965"/>
          </a:xfrm>
          <a:prstGeom prst="rect">
            <a:avLst/>
          </a:prstGeom>
        </p:spPr>
        <p:txBody>
          <a:bodyPr lIns="0" tIns="0" rIns="0" bIns="0" rtlCol="0" anchor="t">
            <a:spAutoFit/>
          </a:bodyPr>
          <a:lstStyle/>
          <a:p>
            <a:pPr marL="0" lvl="0" indent="0" algn="l">
              <a:lnSpc>
                <a:spcPts val="8181"/>
              </a:lnSpc>
            </a:pPr>
            <a:r>
              <a:rPr lang="en-US" sz="8612" b="1">
                <a:solidFill>
                  <a:srgbClr val="1C74BB"/>
                </a:solidFill>
                <a:latin typeface="Poppins Bold"/>
                <a:ea typeface="Poppins Bold"/>
                <a:cs typeface="Poppins Bold"/>
                <a:sym typeface="Poppins Bold"/>
              </a:rPr>
              <a:t>ABSTRACT</a:t>
            </a:r>
          </a:p>
        </p:txBody>
      </p:sp>
      <p:sp>
        <p:nvSpPr>
          <p:cNvPr id="16" name="TextBox 16"/>
          <p:cNvSpPr txBox="1"/>
          <p:nvPr/>
        </p:nvSpPr>
        <p:spPr>
          <a:xfrm>
            <a:off x="1210522" y="8319572"/>
            <a:ext cx="1071411" cy="1316604"/>
          </a:xfrm>
          <a:prstGeom prst="rect">
            <a:avLst/>
          </a:prstGeom>
        </p:spPr>
        <p:txBody>
          <a:bodyPr lIns="0" tIns="0" rIns="0" bIns="0" rtlCol="0" anchor="t">
            <a:spAutoFit/>
          </a:bodyPr>
          <a:lstStyle/>
          <a:p>
            <a:pPr marL="0" lvl="0" indent="0" algn="l">
              <a:lnSpc>
                <a:spcPts val="9039"/>
              </a:lnSpc>
            </a:pPr>
            <a:r>
              <a:rPr lang="en-US" sz="9515" b="1">
                <a:solidFill>
                  <a:srgbClr val="1C74BB"/>
                </a:solidFill>
                <a:latin typeface="Poppins Bold"/>
                <a:ea typeface="Poppins Bold"/>
                <a:cs typeface="Poppins Bold"/>
                <a:sym typeface="Poppins Bold"/>
              </a:rPr>
              <a:t>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F6FF"/>
        </a:solidFill>
        <a:effectLst/>
      </p:bgPr>
    </p:bg>
    <p:spTree>
      <p:nvGrpSpPr>
        <p:cNvPr id="1" name=""/>
        <p:cNvGrpSpPr/>
        <p:nvPr/>
      </p:nvGrpSpPr>
      <p:grpSpPr>
        <a:xfrm>
          <a:off x="0" y="0"/>
          <a:ext cx="0" cy="0"/>
          <a:chOff x="0" y="0"/>
          <a:chExt cx="0" cy="0"/>
        </a:xfrm>
      </p:grpSpPr>
      <p:sp>
        <p:nvSpPr>
          <p:cNvPr id="2" name="Freeform 2"/>
          <p:cNvSpPr/>
          <p:nvPr/>
        </p:nvSpPr>
        <p:spPr>
          <a:xfrm rot="-3855666">
            <a:off x="15046734" y="6345056"/>
            <a:ext cx="5662001" cy="5721512"/>
          </a:xfrm>
          <a:custGeom>
            <a:avLst/>
            <a:gdLst/>
            <a:ahLst/>
            <a:cxnLst/>
            <a:rect l="l" t="t" r="r" b="b"/>
            <a:pathLst>
              <a:path w="5662001" h="5721512">
                <a:moveTo>
                  <a:pt x="0" y="0"/>
                </a:moveTo>
                <a:lnTo>
                  <a:pt x="5662001" y="0"/>
                </a:lnTo>
                <a:lnTo>
                  <a:pt x="5662001"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721374">
            <a:off x="-1084773" y="-3327728"/>
            <a:ext cx="5662001" cy="5721512"/>
          </a:xfrm>
          <a:custGeom>
            <a:avLst/>
            <a:gdLst/>
            <a:ahLst/>
            <a:cxnLst/>
            <a:rect l="l" t="t" r="r" b="b"/>
            <a:pathLst>
              <a:path w="5662001" h="5721512">
                <a:moveTo>
                  <a:pt x="0" y="0"/>
                </a:moveTo>
                <a:lnTo>
                  <a:pt x="5662002" y="0"/>
                </a:lnTo>
                <a:lnTo>
                  <a:pt x="5662002"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715390" y="8128033"/>
            <a:ext cx="1566543" cy="156654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7D8FF"/>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7" name="Group 7"/>
          <p:cNvGrpSpPr/>
          <p:nvPr/>
        </p:nvGrpSpPr>
        <p:grpSpPr>
          <a:xfrm>
            <a:off x="2764456" y="9205812"/>
            <a:ext cx="11234139" cy="52488"/>
            <a:chOff x="0" y="0"/>
            <a:chExt cx="635000" cy="2967"/>
          </a:xfrm>
        </p:grpSpPr>
        <p:sp>
          <p:nvSpPr>
            <p:cNvPr id="8" name="Freeform 8"/>
            <p:cNvSpPr/>
            <p:nvPr/>
          </p:nvSpPr>
          <p:spPr>
            <a:xfrm>
              <a:off x="0" y="0"/>
              <a:ext cx="635000" cy="2967"/>
            </a:xfrm>
            <a:custGeom>
              <a:avLst/>
              <a:gdLst/>
              <a:ahLst/>
              <a:cxnLst/>
              <a:rect l="l" t="t" r="r" b="b"/>
              <a:pathLst>
                <a:path w="635000" h="2967">
                  <a:moveTo>
                    <a:pt x="0" y="0"/>
                  </a:moveTo>
                  <a:lnTo>
                    <a:pt x="635000" y="0"/>
                  </a:lnTo>
                  <a:lnTo>
                    <a:pt x="635000" y="2967"/>
                  </a:lnTo>
                  <a:lnTo>
                    <a:pt x="0" y="2967"/>
                  </a:lnTo>
                  <a:close/>
                </a:path>
              </a:pathLst>
            </a:custGeom>
            <a:solidFill>
              <a:srgbClr val="81C1F4"/>
            </a:solidFill>
          </p:spPr>
        </p:sp>
        <p:sp>
          <p:nvSpPr>
            <p:cNvPr id="9" name="TextBox 9"/>
            <p:cNvSpPr txBox="1"/>
            <p:nvPr/>
          </p:nvSpPr>
          <p:spPr>
            <a:xfrm>
              <a:off x="0" y="-38100"/>
              <a:ext cx="635000" cy="41067"/>
            </a:xfrm>
            <a:prstGeom prst="rect">
              <a:avLst/>
            </a:prstGeom>
          </p:spPr>
          <p:txBody>
            <a:bodyPr lIns="50800" tIns="50800" rIns="50800" bIns="50800" rtlCol="0" anchor="ctr"/>
            <a:lstStyle/>
            <a:p>
              <a:pPr marL="0" lvl="0" indent="0" algn="ctr">
                <a:lnSpc>
                  <a:spcPts val="2659"/>
                </a:lnSpc>
              </a:pPr>
              <a:endParaRPr/>
            </a:p>
          </p:txBody>
        </p:sp>
      </p:grpSp>
      <p:grpSp>
        <p:nvGrpSpPr>
          <p:cNvPr id="10" name="Group 10"/>
          <p:cNvGrpSpPr/>
          <p:nvPr/>
        </p:nvGrpSpPr>
        <p:grpSpPr>
          <a:xfrm>
            <a:off x="2764456" y="3898523"/>
            <a:ext cx="12595589" cy="2426824"/>
            <a:chOff x="0" y="0"/>
            <a:chExt cx="1162605" cy="224002"/>
          </a:xfrm>
        </p:grpSpPr>
        <p:sp>
          <p:nvSpPr>
            <p:cNvPr id="11" name="Freeform 11"/>
            <p:cNvSpPr/>
            <p:nvPr/>
          </p:nvSpPr>
          <p:spPr>
            <a:xfrm>
              <a:off x="0" y="0"/>
              <a:ext cx="1162605" cy="224002"/>
            </a:xfrm>
            <a:custGeom>
              <a:avLst/>
              <a:gdLst/>
              <a:ahLst/>
              <a:cxnLst/>
              <a:rect l="l" t="t" r="r" b="b"/>
              <a:pathLst>
                <a:path w="1162605" h="224002">
                  <a:moveTo>
                    <a:pt x="12005" y="0"/>
                  </a:moveTo>
                  <a:lnTo>
                    <a:pt x="1150600" y="0"/>
                  </a:lnTo>
                  <a:cubicBezTo>
                    <a:pt x="1153784" y="0"/>
                    <a:pt x="1156837" y="1265"/>
                    <a:pt x="1159089" y="3516"/>
                  </a:cubicBezTo>
                  <a:cubicBezTo>
                    <a:pt x="1161340" y="5768"/>
                    <a:pt x="1162605" y="8821"/>
                    <a:pt x="1162605" y="12005"/>
                  </a:cubicBezTo>
                  <a:lnTo>
                    <a:pt x="1162605" y="211997"/>
                  </a:lnTo>
                  <a:cubicBezTo>
                    <a:pt x="1162605" y="215181"/>
                    <a:pt x="1161340" y="218234"/>
                    <a:pt x="1159089" y="220486"/>
                  </a:cubicBezTo>
                  <a:cubicBezTo>
                    <a:pt x="1156837" y="222737"/>
                    <a:pt x="1153784" y="224002"/>
                    <a:pt x="1150600" y="224002"/>
                  </a:cubicBezTo>
                  <a:lnTo>
                    <a:pt x="12005" y="224002"/>
                  </a:lnTo>
                  <a:cubicBezTo>
                    <a:pt x="8821" y="224002"/>
                    <a:pt x="5768" y="222737"/>
                    <a:pt x="3516" y="220486"/>
                  </a:cubicBezTo>
                  <a:cubicBezTo>
                    <a:pt x="1265" y="218234"/>
                    <a:pt x="0" y="215181"/>
                    <a:pt x="0" y="211997"/>
                  </a:cubicBezTo>
                  <a:lnTo>
                    <a:pt x="0" y="12005"/>
                  </a:lnTo>
                  <a:cubicBezTo>
                    <a:pt x="0" y="8821"/>
                    <a:pt x="1265" y="5768"/>
                    <a:pt x="3516" y="3516"/>
                  </a:cubicBezTo>
                  <a:cubicBezTo>
                    <a:pt x="5768" y="1265"/>
                    <a:pt x="8821" y="0"/>
                    <a:pt x="12005" y="0"/>
                  </a:cubicBezTo>
                  <a:close/>
                </a:path>
              </a:pathLst>
            </a:custGeom>
            <a:solidFill>
              <a:srgbClr val="D1EDFF"/>
            </a:solidFill>
          </p:spPr>
        </p:sp>
        <p:sp>
          <p:nvSpPr>
            <p:cNvPr id="12" name="TextBox 12"/>
            <p:cNvSpPr txBox="1"/>
            <p:nvPr/>
          </p:nvSpPr>
          <p:spPr>
            <a:xfrm>
              <a:off x="0" y="-38100"/>
              <a:ext cx="1162605" cy="262102"/>
            </a:xfrm>
            <a:prstGeom prst="rect">
              <a:avLst/>
            </a:prstGeom>
          </p:spPr>
          <p:txBody>
            <a:bodyPr lIns="50800" tIns="50800" rIns="50800" bIns="50800" rtlCol="0" anchor="ctr"/>
            <a:lstStyle/>
            <a:p>
              <a:pPr marL="0" lvl="0" indent="0" algn="ctr">
                <a:lnSpc>
                  <a:spcPts val="2659"/>
                </a:lnSpc>
              </a:pPr>
              <a:endParaRPr/>
            </a:p>
          </p:txBody>
        </p:sp>
      </p:grpSp>
      <p:grpSp>
        <p:nvGrpSpPr>
          <p:cNvPr id="13" name="Group 13"/>
          <p:cNvGrpSpPr/>
          <p:nvPr/>
        </p:nvGrpSpPr>
        <p:grpSpPr>
          <a:xfrm>
            <a:off x="2846205" y="6753131"/>
            <a:ext cx="12595589" cy="2158175"/>
            <a:chOff x="0" y="0"/>
            <a:chExt cx="1162605" cy="199205"/>
          </a:xfrm>
        </p:grpSpPr>
        <p:sp>
          <p:nvSpPr>
            <p:cNvPr id="14" name="Freeform 14"/>
            <p:cNvSpPr/>
            <p:nvPr/>
          </p:nvSpPr>
          <p:spPr>
            <a:xfrm>
              <a:off x="0" y="0"/>
              <a:ext cx="1162605" cy="199205"/>
            </a:xfrm>
            <a:custGeom>
              <a:avLst/>
              <a:gdLst/>
              <a:ahLst/>
              <a:cxnLst/>
              <a:rect l="l" t="t" r="r" b="b"/>
              <a:pathLst>
                <a:path w="1162605" h="199205">
                  <a:moveTo>
                    <a:pt x="12005" y="0"/>
                  </a:moveTo>
                  <a:lnTo>
                    <a:pt x="1150600" y="0"/>
                  </a:lnTo>
                  <a:cubicBezTo>
                    <a:pt x="1153784" y="0"/>
                    <a:pt x="1156837" y="1265"/>
                    <a:pt x="1159089" y="3516"/>
                  </a:cubicBezTo>
                  <a:cubicBezTo>
                    <a:pt x="1161340" y="5768"/>
                    <a:pt x="1162605" y="8821"/>
                    <a:pt x="1162605" y="12005"/>
                  </a:cubicBezTo>
                  <a:lnTo>
                    <a:pt x="1162605" y="187200"/>
                  </a:lnTo>
                  <a:cubicBezTo>
                    <a:pt x="1162605" y="190384"/>
                    <a:pt x="1161340" y="193437"/>
                    <a:pt x="1159089" y="195689"/>
                  </a:cubicBezTo>
                  <a:cubicBezTo>
                    <a:pt x="1156837" y="197940"/>
                    <a:pt x="1153784" y="199205"/>
                    <a:pt x="1150600" y="199205"/>
                  </a:cubicBezTo>
                  <a:lnTo>
                    <a:pt x="12005" y="199205"/>
                  </a:lnTo>
                  <a:cubicBezTo>
                    <a:pt x="8821" y="199205"/>
                    <a:pt x="5768" y="197940"/>
                    <a:pt x="3516" y="195689"/>
                  </a:cubicBezTo>
                  <a:cubicBezTo>
                    <a:pt x="1265" y="193437"/>
                    <a:pt x="0" y="190384"/>
                    <a:pt x="0" y="187200"/>
                  </a:cubicBezTo>
                  <a:lnTo>
                    <a:pt x="0" y="12005"/>
                  </a:lnTo>
                  <a:cubicBezTo>
                    <a:pt x="0" y="8821"/>
                    <a:pt x="1265" y="5768"/>
                    <a:pt x="3516" y="3516"/>
                  </a:cubicBezTo>
                  <a:cubicBezTo>
                    <a:pt x="5768" y="1265"/>
                    <a:pt x="8821" y="0"/>
                    <a:pt x="12005" y="0"/>
                  </a:cubicBezTo>
                  <a:close/>
                </a:path>
              </a:pathLst>
            </a:custGeom>
            <a:solidFill>
              <a:srgbClr val="D1EDFF"/>
            </a:solidFill>
          </p:spPr>
        </p:sp>
        <p:sp>
          <p:nvSpPr>
            <p:cNvPr id="15" name="TextBox 15"/>
            <p:cNvSpPr txBox="1"/>
            <p:nvPr/>
          </p:nvSpPr>
          <p:spPr>
            <a:xfrm>
              <a:off x="0" y="-38100"/>
              <a:ext cx="1162605" cy="237305"/>
            </a:xfrm>
            <a:prstGeom prst="rect">
              <a:avLst/>
            </a:prstGeom>
          </p:spPr>
          <p:txBody>
            <a:bodyPr lIns="50800" tIns="50800" rIns="50800" bIns="50800" rtlCol="0" anchor="ctr"/>
            <a:lstStyle/>
            <a:p>
              <a:pPr marL="0" lvl="0" indent="0" algn="ctr">
                <a:lnSpc>
                  <a:spcPts val="2659"/>
                </a:lnSpc>
              </a:pPr>
              <a:endParaRPr/>
            </a:p>
          </p:txBody>
        </p:sp>
      </p:grpSp>
      <p:sp>
        <p:nvSpPr>
          <p:cNvPr id="16" name="Freeform 16"/>
          <p:cNvSpPr/>
          <p:nvPr/>
        </p:nvSpPr>
        <p:spPr>
          <a:xfrm>
            <a:off x="3249266" y="4654344"/>
            <a:ext cx="952224" cy="978313"/>
          </a:xfrm>
          <a:custGeom>
            <a:avLst/>
            <a:gdLst/>
            <a:ahLst/>
            <a:cxnLst/>
            <a:rect l="l" t="t" r="r" b="b"/>
            <a:pathLst>
              <a:path w="952224" h="978313">
                <a:moveTo>
                  <a:pt x="0" y="0"/>
                </a:moveTo>
                <a:lnTo>
                  <a:pt x="952224" y="0"/>
                </a:lnTo>
                <a:lnTo>
                  <a:pt x="952224" y="978312"/>
                </a:lnTo>
                <a:lnTo>
                  <a:pt x="0" y="97831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7" name="TextBox 17"/>
          <p:cNvSpPr txBox="1"/>
          <p:nvPr/>
        </p:nvSpPr>
        <p:spPr>
          <a:xfrm>
            <a:off x="4586284" y="4147383"/>
            <a:ext cx="10400537" cy="1982710"/>
          </a:xfrm>
          <a:prstGeom prst="rect">
            <a:avLst/>
          </a:prstGeom>
        </p:spPr>
        <p:txBody>
          <a:bodyPr lIns="0" tIns="0" rIns="0" bIns="0" rtlCol="0" anchor="t">
            <a:spAutoFit/>
          </a:bodyPr>
          <a:lstStyle/>
          <a:p>
            <a:pPr marL="0" lvl="0" indent="0" algn="just">
              <a:lnSpc>
                <a:spcPts val="3075"/>
              </a:lnSpc>
            </a:pPr>
            <a:r>
              <a:rPr lang="en-US" sz="2698">
                <a:solidFill>
                  <a:srgbClr val="1C74BB"/>
                </a:solidFill>
                <a:latin typeface="Poppins"/>
                <a:ea typeface="Poppins"/>
                <a:cs typeface="Poppins"/>
                <a:sym typeface="Poppins"/>
              </a:rPr>
              <a:t>In recent years, educational institutions have been generating a large amount of student-related data such as marks, attendance, and academic records. However, extracting meaningful insights from this data remains a major challenge.</a:t>
            </a:r>
          </a:p>
        </p:txBody>
      </p:sp>
      <p:sp>
        <p:nvSpPr>
          <p:cNvPr id="18" name="TextBox 18"/>
          <p:cNvSpPr txBox="1"/>
          <p:nvPr/>
        </p:nvSpPr>
        <p:spPr>
          <a:xfrm>
            <a:off x="2764456" y="2294898"/>
            <a:ext cx="13073588" cy="1178965"/>
          </a:xfrm>
          <a:prstGeom prst="rect">
            <a:avLst/>
          </a:prstGeom>
        </p:spPr>
        <p:txBody>
          <a:bodyPr lIns="0" tIns="0" rIns="0" bIns="0" rtlCol="0" anchor="t">
            <a:spAutoFit/>
          </a:bodyPr>
          <a:lstStyle/>
          <a:p>
            <a:pPr marL="0" lvl="0" indent="0" algn="l">
              <a:lnSpc>
                <a:spcPts val="8181"/>
              </a:lnSpc>
            </a:pPr>
            <a:r>
              <a:rPr lang="en-US" sz="8612" b="1">
                <a:solidFill>
                  <a:srgbClr val="1C74BB"/>
                </a:solidFill>
                <a:latin typeface="Poppins Bold"/>
                <a:ea typeface="Poppins Bold"/>
                <a:cs typeface="Poppins Bold"/>
                <a:sym typeface="Poppins Bold"/>
              </a:rPr>
              <a:t>INTRODUCTION</a:t>
            </a:r>
          </a:p>
        </p:txBody>
      </p:sp>
      <p:sp>
        <p:nvSpPr>
          <p:cNvPr id="19" name="TextBox 19"/>
          <p:cNvSpPr txBox="1"/>
          <p:nvPr/>
        </p:nvSpPr>
        <p:spPr>
          <a:xfrm>
            <a:off x="1210522" y="8319572"/>
            <a:ext cx="1071411" cy="1316604"/>
          </a:xfrm>
          <a:prstGeom prst="rect">
            <a:avLst/>
          </a:prstGeom>
        </p:spPr>
        <p:txBody>
          <a:bodyPr lIns="0" tIns="0" rIns="0" bIns="0" rtlCol="0" anchor="t">
            <a:spAutoFit/>
          </a:bodyPr>
          <a:lstStyle/>
          <a:p>
            <a:pPr marL="0" lvl="0" indent="0" algn="l">
              <a:lnSpc>
                <a:spcPts val="9039"/>
              </a:lnSpc>
            </a:pPr>
            <a:r>
              <a:rPr lang="en-US" sz="9515" b="1">
                <a:solidFill>
                  <a:srgbClr val="1C74BB"/>
                </a:solidFill>
                <a:latin typeface="Poppins Bold"/>
                <a:ea typeface="Poppins Bold"/>
                <a:cs typeface="Poppins Bold"/>
                <a:sym typeface="Poppins Bold"/>
              </a:rPr>
              <a:t>2</a:t>
            </a:r>
          </a:p>
        </p:txBody>
      </p:sp>
      <p:sp>
        <p:nvSpPr>
          <p:cNvPr id="20" name="TextBox 20"/>
          <p:cNvSpPr txBox="1"/>
          <p:nvPr/>
        </p:nvSpPr>
        <p:spPr>
          <a:xfrm>
            <a:off x="4586284" y="7071643"/>
            <a:ext cx="10400537" cy="1201660"/>
          </a:xfrm>
          <a:prstGeom prst="rect">
            <a:avLst/>
          </a:prstGeom>
        </p:spPr>
        <p:txBody>
          <a:bodyPr lIns="0" tIns="0" rIns="0" bIns="0" rtlCol="0" anchor="t">
            <a:spAutoFit/>
          </a:bodyPr>
          <a:lstStyle/>
          <a:p>
            <a:pPr marL="0" lvl="0" indent="0" algn="just">
              <a:lnSpc>
                <a:spcPts val="3075"/>
              </a:lnSpc>
            </a:pPr>
            <a:r>
              <a:rPr lang="en-US" sz="2698">
                <a:solidFill>
                  <a:srgbClr val="1C74BB"/>
                </a:solidFill>
                <a:latin typeface="Poppins"/>
                <a:ea typeface="Poppins"/>
                <a:cs typeface="Poppins"/>
                <a:sym typeface="Poppins"/>
              </a:rPr>
              <a:t>To address this issue, our system provides an intelligent platform that analyzes student data and predicts future performance using Machine Learning techniques.</a:t>
            </a:r>
          </a:p>
        </p:txBody>
      </p:sp>
      <p:sp>
        <p:nvSpPr>
          <p:cNvPr id="21" name="Freeform 21"/>
          <p:cNvSpPr/>
          <p:nvPr/>
        </p:nvSpPr>
        <p:spPr>
          <a:xfrm>
            <a:off x="3249266" y="7081168"/>
            <a:ext cx="952224" cy="978313"/>
          </a:xfrm>
          <a:custGeom>
            <a:avLst/>
            <a:gdLst/>
            <a:ahLst/>
            <a:cxnLst/>
            <a:rect l="l" t="t" r="r" b="b"/>
            <a:pathLst>
              <a:path w="952224" h="978313">
                <a:moveTo>
                  <a:pt x="0" y="0"/>
                </a:moveTo>
                <a:lnTo>
                  <a:pt x="952224" y="0"/>
                </a:lnTo>
                <a:lnTo>
                  <a:pt x="952224" y="978313"/>
                </a:lnTo>
                <a:lnTo>
                  <a:pt x="0" y="978313"/>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8F6FF"/>
        </a:solidFill>
        <a:effectLst/>
      </p:bgPr>
    </p:bg>
    <p:spTree>
      <p:nvGrpSpPr>
        <p:cNvPr id="1" name=""/>
        <p:cNvGrpSpPr/>
        <p:nvPr/>
      </p:nvGrpSpPr>
      <p:grpSpPr>
        <a:xfrm>
          <a:off x="0" y="0"/>
          <a:ext cx="0" cy="0"/>
          <a:chOff x="0" y="0"/>
          <a:chExt cx="0" cy="0"/>
        </a:xfrm>
      </p:grpSpPr>
      <p:sp>
        <p:nvSpPr>
          <p:cNvPr id="2" name="TextBox 2"/>
          <p:cNvSpPr txBox="1"/>
          <p:nvPr/>
        </p:nvSpPr>
        <p:spPr>
          <a:xfrm>
            <a:off x="2764456" y="2397833"/>
            <a:ext cx="13073588" cy="1178965"/>
          </a:xfrm>
          <a:prstGeom prst="rect">
            <a:avLst/>
          </a:prstGeom>
        </p:spPr>
        <p:txBody>
          <a:bodyPr lIns="0" tIns="0" rIns="0" bIns="0" rtlCol="0" anchor="t">
            <a:spAutoFit/>
          </a:bodyPr>
          <a:lstStyle/>
          <a:p>
            <a:pPr marL="0" lvl="0" indent="0" algn="l">
              <a:lnSpc>
                <a:spcPts val="8181"/>
              </a:lnSpc>
            </a:pPr>
            <a:r>
              <a:rPr lang="en-US" sz="8612" b="1">
                <a:solidFill>
                  <a:srgbClr val="1C74BB"/>
                </a:solidFill>
                <a:latin typeface="Poppins Bold"/>
                <a:ea typeface="Poppins Bold"/>
                <a:cs typeface="Poppins Bold"/>
                <a:sym typeface="Poppins Bold"/>
              </a:rPr>
              <a:t>PROBLEM DEFINITION</a:t>
            </a:r>
          </a:p>
        </p:txBody>
      </p:sp>
      <p:sp>
        <p:nvSpPr>
          <p:cNvPr id="3" name="Freeform 3"/>
          <p:cNvSpPr/>
          <p:nvPr/>
        </p:nvSpPr>
        <p:spPr>
          <a:xfrm rot="-3855666">
            <a:off x="15046734" y="6345056"/>
            <a:ext cx="5662001" cy="5721512"/>
          </a:xfrm>
          <a:custGeom>
            <a:avLst/>
            <a:gdLst/>
            <a:ahLst/>
            <a:cxnLst/>
            <a:rect l="l" t="t" r="r" b="b"/>
            <a:pathLst>
              <a:path w="5662001" h="5721512">
                <a:moveTo>
                  <a:pt x="0" y="0"/>
                </a:moveTo>
                <a:lnTo>
                  <a:pt x="5662001" y="0"/>
                </a:lnTo>
                <a:lnTo>
                  <a:pt x="5662001"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rot="-721374">
            <a:off x="-1084773" y="-3327728"/>
            <a:ext cx="5662001" cy="5721512"/>
          </a:xfrm>
          <a:custGeom>
            <a:avLst/>
            <a:gdLst/>
            <a:ahLst/>
            <a:cxnLst/>
            <a:rect l="l" t="t" r="r" b="b"/>
            <a:pathLst>
              <a:path w="5662001" h="5721512">
                <a:moveTo>
                  <a:pt x="0" y="0"/>
                </a:moveTo>
                <a:lnTo>
                  <a:pt x="5662002" y="0"/>
                </a:lnTo>
                <a:lnTo>
                  <a:pt x="5662002"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 name="Group 5"/>
          <p:cNvGrpSpPr/>
          <p:nvPr/>
        </p:nvGrpSpPr>
        <p:grpSpPr>
          <a:xfrm>
            <a:off x="715390" y="8128033"/>
            <a:ext cx="1566543" cy="156654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7D8FF"/>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2764456" y="9205812"/>
            <a:ext cx="11234139" cy="52488"/>
            <a:chOff x="0" y="0"/>
            <a:chExt cx="635000" cy="2967"/>
          </a:xfrm>
        </p:grpSpPr>
        <p:sp>
          <p:nvSpPr>
            <p:cNvPr id="9" name="Freeform 9"/>
            <p:cNvSpPr/>
            <p:nvPr/>
          </p:nvSpPr>
          <p:spPr>
            <a:xfrm>
              <a:off x="0" y="0"/>
              <a:ext cx="635000" cy="2967"/>
            </a:xfrm>
            <a:custGeom>
              <a:avLst/>
              <a:gdLst/>
              <a:ahLst/>
              <a:cxnLst/>
              <a:rect l="l" t="t" r="r" b="b"/>
              <a:pathLst>
                <a:path w="635000" h="2967">
                  <a:moveTo>
                    <a:pt x="0" y="0"/>
                  </a:moveTo>
                  <a:lnTo>
                    <a:pt x="635000" y="0"/>
                  </a:lnTo>
                  <a:lnTo>
                    <a:pt x="635000" y="2967"/>
                  </a:lnTo>
                  <a:lnTo>
                    <a:pt x="0" y="2967"/>
                  </a:lnTo>
                  <a:close/>
                </a:path>
              </a:pathLst>
            </a:custGeom>
            <a:solidFill>
              <a:srgbClr val="81C1F4"/>
            </a:solidFill>
          </p:spPr>
        </p:sp>
        <p:sp>
          <p:nvSpPr>
            <p:cNvPr id="10" name="TextBox 10"/>
            <p:cNvSpPr txBox="1"/>
            <p:nvPr/>
          </p:nvSpPr>
          <p:spPr>
            <a:xfrm>
              <a:off x="0" y="-38100"/>
              <a:ext cx="635000" cy="41067"/>
            </a:xfrm>
            <a:prstGeom prst="rect">
              <a:avLst/>
            </a:prstGeom>
          </p:spPr>
          <p:txBody>
            <a:bodyPr lIns="50800" tIns="50800" rIns="50800" bIns="50800" rtlCol="0" anchor="ctr"/>
            <a:lstStyle/>
            <a:p>
              <a:pPr marL="0" lvl="0" indent="0" algn="ctr">
                <a:lnSpc>
                  <a:spcPts val="2659"/>
                </a:lnSpc>
              </a:pPr>
              <a:endParaRPr/>
            </a:p>
          </p:txBody>
        </p:sp>
      </p:grpSp>
      <p:sp>
        <p:nvSpPr>
          <p:cNvPr id="11" name="TextBox 11"/>
          <p:cNvSpPr txBox="1"/>
          <p:nvPr/>
        </p:nvSpPr>
        <p:spPr>
          <a:xfrm>
            <a:off x="2558451" y="3822231"/>
            <a:ext cx="13845575" cy="1592185"/>
          </a:xfrm>
          <a:prstGeom prst="rect">
            <a:avLst/>
          </a:prstGeom>
        </p:spPr>
        <p:txBody>
          <a:bodyPr lIns="0" tIns="0" rIns="0" bIns="0" rtlCol="0" anchor="t">
            <a:spAutoFit/>
          </a:bodyPr>
          <a:lstStyle/>
          <a:p>
            <a:pPr marL="0" lvl="0" indent="0" algn="just">
              <a:lnSpc>
                <a:spcPts val="3075"/>
              </a:lnSpc>
            </a:pPr>
            <a:r>
              <a:rPr lang="en-US" sz="2698" dirty="0">
                <a:solidFill>
                  <a:srgbClr val="1C74BB"/>
                </a:solidFill>
                <a:latin typeface="Poppins"/>
                <a:ea typeface="Poppins"/>
                <a:cs typeface="Poppins"/>
                <a:sym typeface="Poppins"/>
              </a:rPr>
              <a:t>Many educational institutions face challenges in analyzing student performance due to the absence of proper analytical tools and reliance on manual evaluation methods. It becomes difficult to identify weak students and understand performance trends effectively.</a:t>
            </a:r>
          </a:p>
        </p:txBody>
      </p:sp>
      <p:sp>
        <p:nvSpPr>
          <p:cNvPr id="12" name="TextBox 12"/>
          <p:cNvSpPr txBox="1"/>
          <p:nvPr/>
        </p:nvSpPr>
        <p:spPr>
          <a:xfrm>
            <a:off x="1210522" y="8319572"/>
            <a:ext cx="1071411" cy="1316604"/>
          </a:xfrm>
          <a:prstGeom prst="rect">
            <a:avLst/>
          </a:prstGeom>
        </p:spPr>
        <p:txBody>
          <a:bodyPr lIns="0" tIns="0" rIns="0" bIns="0" rtlCol="0" anchor="t">
            <a:spAutoFit/>
          </a:bodyPr>
          <a:lstStyle/>
          <a:p>
            <a:pPr marL="0" lvl="0" indent="0" algn="l">
              <a:lnSpc>
                <a:spcPts val="9039"/>
              </a:lnSpc>
            </a:pPr>
            <a:r>
              <a:rPr lang="en-US" sz="9515" b="1">
                <a:solidFill>
                  <a:srgbClr val="1C74BB"/>
                </a:solidFill>
                <a:latin typeface="Poppins Bold"/>
                <a:ea typeface="Poppins Bold"/>
                <a:cs typeface="Poppins Bold"/>
                <a:sym typeface="Poppins Bold"/>
              </a:rPr>
              <a:t>3</a:t>
            </a:r>
          </a:p>
        </p:txBody>
      </p:sp>
      <p:sp>
        <p:nvSpPr>
          <p:cNvPr id="13" name="TextBox 13"/>
          <p:cNvSpPr txBox="1"/>
          <p:nvPr/>
        </p:nvSpPr>
        <p:spPr>
          <a:xfrm>
            <a:off x="2529876" y="5938290"/>
            <a:ext cx="13845575" cy="1201660"/>
          </a:xfrm>
          <a:prstGeom prst="rect">
            <a:avLst/>
          </a:prstGeom>
        </p:spPr>
        <p:txBody>
          <a:bodyPr lIns="0" tIns="0" rIns="0" bIns="0" rtlCol="0" anchor="t">
            <a:spAutoFit/>
          </a:bodyPr>
          <a:lstStyle/>
          <a:p>
            <a:pPr marL="0" lvl="0" indent="0" algn="just">
              <a:lnSpc>
                <a:spcPts val="3075"/>
              </a:lnSpc>
            </a:pPr>
            <a:r>
              <a:rPr lang="en-US" sz="2698">
                <a:solidFill>
                  <a:srgbClr val="1C74BB"/>
                </a:solidFill>
                <a:latin typeface="Poppins"/>
                <a:ea typeface="Poppins"/>
                <a:cs typeface="Poppins"/>
                <a:sym typeface="Poppins"/>
              </a:rPr>
              <a:t>Additionally, the lack of Machine Learning-based approaches limits the ability to predict future academic outcomes. This results in delayed decision-making and reduces the effectiveness of academic improvements.</a:t>
            </a:r>
          </a:p>
        </p:txBody>
      </p:sp>
      <p:sp>
        <p:nvSpPr>
          <p:cNvPr id="14" name="TextBox 14"/>
          <p:cNvSpPr txBox="1"/>
          <p:nvPr/>
        </p:nvSpPr>
        <p:spPr>
          <a:xfrm>
            <a:off x="2764456" y="4181949"/>
            <a:ext cx="851913" cy="807023"/>
          </a:xfrm>
          <a:prstGeom prst="rect">
            <a:avLst/>
          </a:prstGeom>
        </p:spPr>
        <p:txBody>
          <a:bodyPr lIns="0" tIns="0" rIns="0" bIns="0" rtlCol="0" anchor="t">
            <a:spAutoFit/>
          </a:bodyPr>
          <a:lstStyle/>
          <a:p>
            <a:pPr marL="0" lvl="0" indent="0" algn="l">
              <a:lnSpc>
                <a:spcPts val="5506"/>
              </a:lnSpc>
            </a:pPr>
            <a:endParaRPr/>
          </a:p>
        </p:txBody>
      </p:sp>
      <p:sp>
        <p:nvSpPr>
          <p:cNvPr id="15" name="TextBox 15"/>
          <p:cNvSpPr txBox="1"/>
          <p:nvPr/>
        </p:nvSpPr>
        <p:spPr>
          <a:xfrm>
            <a:off x="2764456" y="5745573"/>
            <a:ext cx="851913" cy="807023"/>
          </a:xfrm>
          <a:prstGeom prst="rect">
            <a:avLst/>
          </a:prstGeom>
        </p:spPr>
        <p:txBody>
          <a:bodyPr lIns="0" tIns="0" rIns="0" bIns="0" rtlCol="0" anchor="t">
            <a:spAutoFit/>
          </a:bodyPr>
          <a:lstStyle/>
          <a:p>
            <a:pPr marL="0" lvl="0" indent="0" algn="l">
              <a:lnSpc>
                <a:spcPts val="5506"/>
              </a:lnSpc>
            </a:pPr>
            <a:endParaRPr/>
          </a:p>
        </p:txBody>
      </p:sp>
      <p:sp>
        <p:nvSpPr>
          <p:cNvPr id="16" name="TextBox 16"/>
          <p:cNvSpPr txBox="1"/>
          <p:nvPr/>
        </p:nvSpPr>
        <p:spPr>
          <a:xfrm>
            <a:off x="2764456" y="7309197"/>
            <a:ext cx="1580066" cy="807023"/>
          </a:xfrm>
          <a:prstGeom prst="rect">
            <a:avLst/>
          </a:prstGeom>
        </p:spPr>
        <p:txBody>
          <a:bodyPr lIns="0" tIns="0" rIns="0" bIns="0" rtlCol="0" anchor="t">
            <a:spAutoFit/>
          </a:bodyPr>
          <a:lstStyle/>
          <a:p>
            <a:pPr marL="0" lvl="0" indent="0" algn="l">
              <a:lnSpc>
                <a:spcPts val="5506"/>
              </a:lnSpc>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8F6FF"/>
        </a:solidFill>
        <a:effectLst/>
      </p:bgPr>
    </p:bg>
    <p:spTree>
      <p:nvGrpSpPr>
        <p:cNvPr id="1" name=""/>
        <p:cNvGrpSpPr/>
        <p:nvPr/>
      </p:nvGrpSpPr>
      <p:grpSpPr>
        <a:xfrm>
          <a:off x="0" y="0"/>
          <a:ext cx="0" cy="0"/>
          <a:chOff x="0" y="0"/>
          <a:chExt cx="0" cy="0"/>
        </a:xfrm>
      </p:grpSpPr>
      <p:sp>
        <p:nvSpPr>
          <p:cNvPr id="2" name="TextBox 2"/>
          <p:cNvSpPr txBox="1"/>
          <p:nvPr/>
        </p:nvSpPr>
        <p:spPr>
          <a:xfrm>
            <a:off x="2764456" y="2397833"/>
            <a:ext cx="13073588" cy="1178965"/>
          </a:xfrm>
          <a:prstGeom prst="rect">
            <a:avLst/>
          </a:prstGeom>
        </p:spPr>
        <p:txBody>
          <a:bodyPr lIns="0" tIns="0" rIns="0" bIns="0" rtlCol="0" anchor="t">
            <a:spAutoFit/>
          </a:bodyPr>
          <a:lstStyle/>
          <a:p>
            <a:pPr marL="0" lvl="0" indent="0" algn="l">
              <a:lnSpc>
                <a:spcPts val="8181"/>
              </a:lnSpc>
            </a:pPr>
            <a:r>
              <a:rPr lang="en-US" sz="8612" b="1">
                <a:solidFill>
                  <a:srgbClr val="1C74BB"/>
                </a:solidFill>
                <a:latin typeface="Poppins Bold"/>
                <a:ea typeface="Poppins Bold"/>
                <a:cs typeface="Poppins Bold"/>
                <a:sym typeface="Poppins Bold"/>
              </a:rPr>
              <a:t>EXISTING SYSTEM</a:t>
            </a:r>
          </a:p>
        </p:txBody>
      </p:sp>
      <p:sp>
        <p:nvSpPr>
          <p:cNvPr id="3" name="Freeform 3"/>
          <p:cNvSpPr/>
          <p:nvPr/>
        </p:nvSpPr>
        <p:spPr>
          <a:xfrm rot="-3855666">
            <a:off x="15046734" y="6345056"/>
            <a:ext cx="5662001" cy="5721512"/>
          </a:xfrm>
          <a:custGeom>
            <a:avLst/>
            <a:gdLst/>
            <a:ahLst/>
            <a:cxnLst/>
            <a:rect l="l" t="t" r="r" b="b"/>
            <a:pathLst>
              <a:path w="5662001" h="5721512">
                <a:moveTo>
                  <a:pt x="0" y="0"/>
                </a:moveTo>
                <a:lnTo>
                  <a:pt x="5662001" y="0"/>
                </a:lnTo>
                <a:lnTo>
                  <a:pt x="5662001"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rot="-721374">
            <a:off x="-1084773" y="-3327728"/>
            <a:ext cx="5662001" cy="5721512"/>
          </a:xfrm>
          <a:custGeom>
            <a:avLst/>
            <a:gdLst/>
            <a:ahLst/>
            <a:cxnLst/>
            <a:rect l="l" t="t" r="r" b="b"/>
            <a:pathLst>
              <a:path w="5662001" h="5721512">
                <a:moveTo>
                  <a:pt x="0" y="0"/>
                </a:moveTo>
                <a:lnTo>
                  <a:pt x="5662002" y="0"/>
                </a:lnTo>
                <a:lnTo>
                  <a:pt x="5662002"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 name="Group 5"/>
          <p:cNvGrpSpPr/>
          <p:nvPr/>
        </p:nvGrpSpPr>
        <p:grpSpPr>
          <a:xfrm>
            <a:off x="715390" y="8128033"/>
            <a:ext cx="1566543" cy="156654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7D8FF"/>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2764456" y="9205812"/>
            <a:ext cx="11234139" cy="52488"/>
            <a:chOff x="0" y="0"/>
            <a:chExt cx="635000" cy="2967"/>
          </a:xfrm>
        </p:grpSpPr>
        <p:sp>
          <p:nvSpPr>
            <p:cNvPr id="9" name="Freeform 9"/>
            <p:cNvSpPr/>
            <p:nvPr/>
          </p:nvSpPr>
          <p:spPr>
            <a:xfrm>
              <a:off x="0" y="0"/>
              <a:ext cx="635000" cy="2967"/>
            </a:xfrm>
            <a:custGeom>
              <a:avLst/>
              <a:gdLst/>
              <a:ahLst/>
              <a:cxnLst/>
              <a:rect l="l" t="t" r="r" b="b"/>
              <a:pathLst>
                <a:path w="635000" h="2967">
                  <a:moveTo>
                    <a:pt x="0" y="0"/>
                  </a:moveTo>
                  <a:lnTo>
                    <a:pt x="635000" y="0"/>
                  </a:lnTo>
                  <a:lnTo>
                    <a:pt x="635000" y="2967"/>
                  </a:lnTo>
                  <a:lnTo>
                    <a:pt x="0" y="2967"/>
                  </a:lnTo>
                  <a:close/>
                </a:path>
              </a:pathLst>
            </a:custGeom>
            <a:solidFill>
              <a:srgbClr val="81C1F4"/>
            </a:solidFill>
          </p:spPr>
        </p:sp>
        <p:sp>
          <p:nvSpPr>
            <p:cNvPr id="10" name="TextBox 10"/>
            <p:cNvSpPr txBox="1"/>
            <p:nvPr/>
          </p:nvSpPr>
          <p:spPr>
            <a:xfrm>
              <a:off x="0" y="-38100"/>
              <a:ext cx="635000" cy="41067"/>
            </a:xfrm>
            <a:prstGeom prst="rect">
              <a:avLst/>
            </a:prstGeom>
          </p:spPr>
          <p:txBody>
            <a:bodyPr lIns="50800" tIns="50800" rIns="50800" bIns="50800" rtlCol="0" anchor="ctr"/>
            <a:lstStyle/>
            <a:p>
              <a:pPr marL="0" lvl="0" indent="0" algn="ctr">
                <a:lnSpc>
                  <a:spcPts val="2659"/>
                </a:lnSpc>
              </a:pPr>
              <a:endParaRPr/>
            </a:p>
          </p:txBody>
        </p:sp>
      </p:grpSp>
      <p:sp>
        <p:nvSpPr>
          <p:cNvPr id="11" name="TextBox 11"/>
          <p:cNvSpPr txBox="1"/>
          <p:nvPr/>
        </p:nvSpPr>
        <p:spPr>
          <a:xfrm>
            <a:off x="2270343" y="4202169"/>
            <a:ext cx="14373118" cy="1201660"/>
          </a:xfrm>
          <a:prstGeom prst="rect">
            <a:avLst/>
          </a:prstGeom>
        </p:spPr>
        <p:txBody>
          <a:bodyPr lIns="0" tIns="0" rIns="0" bIns="0" rtlCol="0" anchor="t">
            <a:spAutoFit/>
          </a:bodyPr>
          <a:lstStyle/>
          <a:p>
            <a:pPr marL="0" lvl="0" indent="0" algn="just">
              <a:lnSpc>
                <a:spcPts val="3075"/>
              </a:lnSpc>
            </a:pPr>
            <a:r>
              <a:rPr lang="en-US" sz="2698">
                <a:solidFill>
                  <a:srgbClr val="1C74BB"/>
                </a:solidFill>
                <a:latin typeface="Poppins"/>
                <a:ea typeface="Poppins"/>
                <a:cs typeface="Poppins"/>
                <a:sym typeface="Poppins"/>
              </a:rPr>
              <a:t>The existing system primarily relies on manual methods such as spreadsheets and traditional grading systems to evaluate student performance. These approaches require significant time and effort and are often prone to human errors.</a:t>
            </a:r>
          </a:p>
        </p:txBody>
      </p:sp>
      <p:sp>
        <p:nvSpPr>
          <p:cNvPr id="12" name="TextBox 12"/>
          <p:cNvSpPr txBox="1"/>
          <p:nvPr/>
        </p:nvSpPr>
        <p:spPr>
          <a:xfrm>
            <a:off x="1210522" y="8319572"/>
            <a:ext cx="1071411" cy="1316604"/>
          </a:xfrm>
          <a:prstGeom prst="rect">
            <a:avLst/>
          </a:prstGeom>
        </p:spPr>
        <p:txBody>
          <a:bodyPr lIns="0" tIns="0" rIns="0" bIns="0" rtlCol="0" anchor="t">
            <a:spAutoFit/>
          </a:bodyPr>
          <a:lstStyle/>
          <a:p>
            <a:pPr marL="0" lvl="0" indent="0" algn="l">
              <a:lnSpc>
                <a:spcPts val="9039"/>
              </a:lnSpc>
            </a:pPr>
            <a:r>
              <a:rPr lang="en-US" sz="9515" b="1">
                <a:solidFill>
                  <a:srgbClr val="1C74BB"/>
                </a:solidFill>
                <a:latin typeface="Poppins Bold"/>
                <a:ea typeface="Poppins Bold"/>
                <a:cs typeface="Poppins Bold"/>
                <a:sym typeface="Poppins Bold"/>
              </a:rPr>
              <a:t>4</a:t>
            </a:r>
          </a:p>
        </p:txBody>
      </p:sp>
      <p:sp>
        <p:nvSpPr>
          <p:cNvPr id="13" name="TextBox 13"/>
          <p:cNvSpPr txBox="1"/>
          <p:nvPr/>
        </p:nvSpPr>
        <p:spPr>
          <a:xfrm>
            <a:off x="2281934" y="6101460"/>
            <a:ext cx="14361528" cy="1201660"/>
          </a:xfrm>
          <a:prstGeom prst="rect">
            <a:avLst/>
          </a:prstGeom>
        </p:spPr>
        <p:txBody>
          <a:bodyPr lIns="0" tIns="0" rIns="0" bIns="0" rtlCol="0" anchor="t">
            <a:spAutoFit/>
          </a:bodyPr>
          <a:lstStyle/>
          <a:p>
            <a:pPr marL="0" lvl="0" indent="0" algn="just">
              <a:lnSpc>
                <a:spcPts val="3075"/>
              </a:lnSpc>
            </a:pPr>
            <a:r>
              <a:rPr lang="en-US" sz="2698">
                <a:solidFill>
                  <a:srgbClr val="1C74BB"/>
                </a:solidFill>
                <a:latin typeface="Poppins"/>
                <a:ea typeface="Poppins"/>
                <a:cs typeface="Poppins"/>
                <a:sym typeface="Poppins"/>
              </a:rPr>
              <a:t>Moreover, the current system does not support data visualization or predictive analysis, making it difficult for educators to identify performance patterns and make informed decisions.</a:t>
            </a:r>
          </a:p>
        </p:txBody>
      </p:sp>
      <p:sp>
        <p:nvSpPr>
          <p:cNvPr id="14" name="TextBox 14"/>
          <p:cNvSpPr txBox="1"/>
          <p:nvPr/>
        </p:nvSpPr>
        <p:spPr>
          <a:xfrm>
            <a:off x="2764456" y="4181949"/>
            <a:ext cx="851913" cy="807023"/>
          </a:xfrm>
          <a:prstGeom prst="rect">
            <a:avLst/>
          </a:prstGeom>
        </p:spPr>
        <p:txBody>
          <a:bodyPr lIns="0" tIns="0" rIns="0" bIns="0" rtlCol="0" anchor="t">
            <a:spAutoFit/>
          </a:bodyPr>
          <a:lstStyle/>
          <a:p>
            <a:pPr marL="0" lvl="0" indent="0" algn="l">
              <a:lnSpc>
                <a:spcPts val="5506"/>
              </a:lnSpc>
            </a:pPr>
            <a:endParaRPr/>
          </a:p>
        </p:txBody>
      </p:sp>
      <p:sp>
        <p:nvSpPr>
          <p:cNvPr id="15" name="TextBox 15"/>
          <p:cNvSpPr txBox="1"/>
          <p:nvPr/>
        </p:nvSpPr>
        <p:spPr>
          <a:xfrm>
            <a:off x="2764456" y="5745573"/>
            <a:ext cx="851913" cy="807023"/>
          </a:xfrm>
          <a:prstGeom prst="rect">
            <a:avLst/>
          </a:prstGeom>
        </p:spPr>
        <p:txBody>
          <a:bodyPr lIns="0" tIns="0" rIns="0" bIns="0" rtlCol="0" anchor="t">
            <a:spAutoFit/>
          </a:bodyPr>
          <a:lstStyle/>
          <a:p>
            <a:pPr marL="0" lvl="0" indent="0" algn="l">
              <a:lnSpc>
                <a:spcPts val="5506"/>
              </a:lnSpc>
            </a:pPr>
            <a:endParaRPr/>
          </a:p>
        </p:txBody>
      </p:sp>
      <p:sp>
        <p:nvSpPr>
          <p:cNvPr id="16" name="TextBox 16"/>
          <p:cNvSpPr txBox="1"/>
          <p:nvPr/>
        </p:nvSpPr>
        <p:spPr>
          <a:xfrm>
            <a:off x="2764456" y="7309197"/>
            <a:ext cx="1580066" cy="807023"/>
          </a:xfrm>
          <a:prstGeom prst="rect">
            <a:avLst/>
          </a:prstGeom>
        </p:spPr>
        <p:txBody>
          <a:bodyPr lIns="0" tIns="0" rIns="0" bIns="0" rtlCol="0" anchor="t">
            <a:spAutoFit/>
          </a:bodyPr>
          <a:lstStyle/>
          <a:p>
            <a:pPr marL="0" lvl="0" indent="0" algn="l">
              <a:lnSpc>
                <a:spcPts val="5506"/>
              </a:lnSpc>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F6FF"/>
        </a:solidFill>
        <a:effectLst/>
      </p:bgPr>
    </p:bg>
    <p:spTree>
      <p:nvGrpSpPr>
        <p:cNvPr id="1" name=""/>
        <p:cNvGrpSpPr/>
        <p:nvPr/>
      </p:nvGrpSpPr>
      <p:grpSpPr>
        <a:xfrm>
          <a:off x="0" y="0"/>
          <a:ext cx="0" cy="0"/>
          <a:chOff x="0" y="0"/>
          <a:chExt cx="0" cy="0"/>
        </a:xfrm>
      </p:grpSpPr>
      <p:sp>
        <p:nvSpPr>
          <p:cNvPr id="2" name="TextBox 2"/>
          <p:cNvSpPr txBox="1"/>
          <p:nvPr/>
        </p:nvSpPr>
        <p:spPr>
          <a:xfrm>
            <a:off x="2764456" y="2397833"/>
            <a:ext cx="13073588" cy="1178965"/>
          </a:xfrm>
          <a:prstGeom prst="rect">
            <a:avLst/>
          </a:prstGeom>
        </p:spPr>
        <p:txBody>
          <a:bodyPr lIns="0" tIns="0" rIns="0" bIns="0" rtlCol="0" anchor="t">
            <a:spAutoFit/>
          </a:bodyPr>
          <a:lstStyle/>
          <a:p>
            <a:pPr marL="0" lvl="0" indent="0" algn="l">
              <a:lnSpc>
                <a:spcPts val="8181"/>
              </a:lnSpc>
            </a:pPr>
            <a:r>
              <a:rPr lang="en-US" sz="8612" b="1">
                <a:solidFill>
                  <a:srgbClr val="1C74BB"/>
                </a:solidFill>
                <a:latin typeface="Poppins Bold"/>
                <a:ea typeface="Poppins Bold"/>
                <a:cs typeface="Poppins Bold"/>
                <a:sym typeface="Poppins Bold"/>
              </a:rPr>
              <a:t>PROPOSED SYSTEM</a:t>
            </a:r>
          </a:p>
        </p:txBody>
      </p:sp>
      <p:sp>
        <p:nvSpPr>
          <p:cNvPr id="3" name="Freeform 3"/>
          <p:cNvSpPr/>
          <p:nvPr/>
        </p:nvSpPr>
        <p:spPr>
          <a:xfrm rot="-3855666">
            <a:off x="15046734" y="6345056"/>
            <a:ext cx="5662001" cy="5721512"/>
          </a:xfrm>
          <a:custGeom>
            <a:avLst/>
            <a:gdLst/>
            <a:ahLst/>
            <a:cxnLst/>
            <a:rect l="l" t="t" r="r" b="b"/>
            <a:pathLst>
              <a:path w="5662001" h="5721512">
                <a:moveTo>
                  <a:pt x="0" y="0"/>
                </a:moveTo>
                <a:lnTo>
                  <a:pt x="5662001" y="0"/>
                </a:lnTo>
                <a:lnTo>
                  <a:pt x="5662001"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rot="-721374">
            <a:off x="-1084773" y="-3327728"/>
            <a:ext cx="5662001" cy="5721512"/>
          </a:xfrm>
          <a:custGeom>
            <a:avLst/>
            <a:gdLst/>
            <a:ahLst/>
            <a:cxnLst/>
            <a:rect l="l" t="t" r="r" b="b"/>
            <a:pathLst>
              <a:path w="5662001" h="5721512">
                <a:moveTo>
                  <a:pt x="0" y="0"/>
                </a:moveTo>
                <a:lnTo>
                  <a:pt x="5662002" y="0"/>
                </a:lnTo>
                <a:lnTo>
                  <a:pt x="5662002"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 name="Group 5"/>
          <p:cNvGrpSpPr/>
          <p:nvPr/>
        </p:nvGrpSpPr>
        <p:grpSpPr>
          <a:xfrm>
            <a:off x="715390" y="8128033"/>
            <a:ext cx="1566543" cy="156654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7D8FF"/>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2764456" y="9205812"/>
            <a:ext cx="11234139" cy="52488"/>
            <a:chOff x="0" y="0"/>
            <a:chExt cx="635000" cy="2967"/>
          </a:xfrm>
        </p:grpSpPr>
        <p:sp>
          <p:nvSpPr>
            <p:cNvPr id="9" name="Freeform 9"/>
            <p:cNvSpPr/>
            <p:nvPr/>
          </p:nvSpPr>
          <p:spPr>
            <a:xfrm>
              <a:off x="0" y="0"/>
              <a:ext cx="635000" cy="2967"/>
            </a:xfrm>
            <a:custGeom>
              <a:avLst/>
              <a:gdLst/>
              <a:ahLst/>
              <a:cxnLst/>
              <a:rect l="l" t="t" r="r" b="b"/>
              <a:pathLst>
                <a:path w="635000" h="2967">
                  <a:moveTo>
                    <a:pt x="0" y="0"/>
                  </a:moveTo>
                  <a:lnTo>
                    <a:pt x="635000" y="0"/>
                  </a:lnTo>
                  <a:lnTo>
                    <a:pt x="635000" y="2967"/>
                  </a:lnTo>
                  <a:lnTo>
                    <a:pt x="0" y="2967"/>
                  </a:lnTo>
                  <a:close/>
                </a:path>
              </a:pathLst>
            </a:custGeom>
            <a:solidFill>
              <a:srgbClr val="81C1F4"/>
            </a:solidFill>
          </p:spPr>
        </p:sp>
        <p:sp>
          <p:nvSpPr>
            <p:cNvPr id="10" name="TextBox 10"/>
            <p:cNvSpPr txBox="1"/>
            <p:nvPr/>
          </p:nvSpPr>
          <p:spPr>
            <a:xfrm>
              <a:off x="0" y="-38100"/>
              <a:ext cx="635000" cy="41067"/>
            </a:xfrm>
            <a:prstGeom prst="rect">
              <a:avLst/>
            </a:prstGeom>
          </p:spPr>
          <p:txBody>
            <a:bodyPr lIns="50800" tIns="50800" rIns="50800" bIns="50800" rtlCol="0" anchor="ctr"/>
            <a:lstStyle/>
            <a:p>
              <a:pPr marL="0" lvl="0" indent="0" algn="ctr">
                <a:lnSpc>
                  <a:spcPts val="2659"/>
                </a:lnSpc>
              </a:pPr>
              <a:endParaRPr/>
            </a:p>
          </p:txBody>
        </p:sp>
      </p:grpSp>
      <p:sp>
        <p:nvSpPr>
          <p:cNvPr id="11" name="TextBox 11"/>
          <p:cNvSpPr txBox="1"/>
          <p:nvPr/>
        </p:nvSpPr>
        <p:spPr>
          <a:xfrm>
            <a:off x="1937001" y="4067664"/>
            <a:ext cx="14977366" cy="1592185"/>
          </a:xfrm>
          <a:prstGeom prst="rect">
            <a:avLst/>
          </a:prstGeom>
        </p:spPr>
        <p:txBody>
          <a:bodyPr lIns="0" tIns="0" rIns="0" bIns="0" rtlCol="0" anchor="t">
            <a:spAutoFit/>
          </a:bodyPr>
          <a:lstStyle/>
          <a:p>
            <a:pPr algn="just">
              <a:lnSpc>
                <a:spcPts val="3075"/>
              </a:lnSpc>
            </a:pPr>
            <a:r>
              <a:rPr lang="en-US" sz="2698">
                <a:solidFill>
                  <a:srgbClr val="1C74BB"/>
                </a:solidFill>
                <a:latin typeface="Poppins"/>
                <a:ea typeface="Poppins"/>
                <a:cs typeface="Poppins"/>
                <a:sym typeface="Poppins"/>
              </a:rPr>
              <a:t>The proposed system is a web-based application designed to automate student performance analysis. It provides features such as secure user authentication, efficient data management, and graphical visualization to simplify the analysis process.</a:t>
            </a:r>
          </a:p>
          <a:p>
            <a:pPr marL="0" lvl="0" indent="0" algn="just">
              <a:lnSpc>
                <a:spcPts val="3075"/>
              </a:lnSpc>
            </a:pPr>
            <a:endParaRPr lang="en-US" sz="2698">
              <a:solidFill>
                <a:srgbClr val="1C74BB"/>
              </a:solidFill>
              <a:latin typeface="Poppins"/>
              <a:ea typeface="Poppins"/>
              <a:cs typeface="Poppins"/>
              <a:sym typeface="Poppins"/>
            </a:endParaRPr>
          </a:p>
        </p:txBody>
      </p:sp>
      <p:sp>
        <p:nvSpPr>
          <p:cNvPr id="12" name="TextBox 12"/>
          <p:cNvSpPr txBox="1"/>
          <p:nvPr/>
        </p:nvSpPr>
        <p:spPr>
          <a:xfrm>
            <a:off x="1210522" y="8319572"/>
            <a:ext cx="1071411" cy="1316604"/>
          </a:xfrm>
          <a:prstGeom prst="rect">
            <a:avLst/>
          </a:prstGeom>
        </p:spPr>
        <p:txBody>
          <a:bodyPr lIns="0" tIns="0" rIns="0" bIns="0" rtlCol="0" anchor="t">
            <a:spAutoFit/>
          </a:bodyPr>
          <a:lstStyle/>
          <a:p>
            <a:pPr marL="0" lvl="0" indent="0" algn="l">
              <a:lnSpc>
                <a:spcPts val="9039"/>
              </a:lnSpc>
            </a:pPr>
            <a:r>
              <a:rPr lang="en-US" sz="9515" b="1">
                <a:solidFill>
                  <a:srgbClr val="1C74BB"/>
                </a:solidFill>
                <a:latin typeface="Poppins Bold"/>
                <a:ea typeface="Poppins Bold"/>
                <a:cs typeface="Poppins Bold"/>
                <a:sym typeface="Poppins Bold"/>
              </a:rPr>
              <a:t>5</a:t>
            </a:r>
          </a:p>
        </p:txBody>
      </p:sp>
      <p:sp>
        <p:nvSpPr>
          <p:cNvPr id="13" name="TextBox 13"/>
          <p:cNvSpPr txBox="1"/>
          <p:nvPr/>
        </p:nvSpPr>
        <p:spPr>
          <a:xfrm>
            <a:off x="1937001" y="5938290"/>
            <a:ext cx="14977366" cy="1201660"/>
          </a:xfrm>
          <a:prstGeom prst="rect">
            <a:avLst/>
          </a:prstGeom>
        </p:spPr>
        <p:txBody>
          <a:bodyPr lIns="0" tIns="0" rIns="0" bIns="0" rtlCol="0" anchor="t">
            <a:spAutoFit/>
          </a:bodyPr>
          <a:lstStyle/>
          <a:p>
            <a:pPr marL="0" lvl="0" indent="0" algn="just">
              <a:lnSpc>
                <a:spcPts val="3075"/>
              </a:lnSpc>
            </a:pPr>
            <a:r>
              <a:rPr lang="en-US" sz="2698">
                <a:solidFill>
                  <a:srgbClr val="1C74BB"/>
                </a:solidFill>
                <a:latin typeface="Poppins"/>
                <a:ea typeface="Poppins"/>
                <a:cs typeface="Poppins"/>
                <a:sym typeface="Poppins"/>
              </a:rPr>
              <a:t>In addition, the system uses Machine Learning techniques to analyze historical data and predict future student performance. This helps educators make data-driven decisions and identify students who require additional support.</a:t>
            </a:r>
          </a:p>
        </p:txBody>
      </p:sp>
      <p:sp>
        <p:nvSpPr>
          <p:cNvPr id="14" name="TextBox 14"/>
          <p:cNvSpPr txBox="1"/>
          <p:nvPr/>
        </p:nvSpPr>
        <p:spPr>
          <a:xfrm>
            <a:off x="2764456" y="4181949"/>
            <a:ext cx="851913" cy="807023"/>
          </a:xfrm>
          <a:prstGeom prst="rect">
            <a:avLst/>
          </a:prstGeom>
        </p:spPr>
        <p:txBody>
          <a:bodyPr lIns="0" tIns="0" rIns="0" bIns="0" rtlCol="0" anchor="t">
            <a:spAutoFit/>
          </a:bodyPr>
          <a:lstStyle/>
          <a:p>
            <a:pPr marL="0" lvl="0" indent="0" algn="l">
              <a:lnSpc>
                <a:spcPts val="5506"/>
              </a:lnSpc>
            </a:pPr>
            <a:endParaRPr/>
          </a:p>
        </p:txBody>
      </p:sp>
      <p:sp>
        <p:nvSpPr>
          <p:cNvPr id="15" name="TextBox 15"/>
          <p:cNvSpPr txBox="1"/>
          <p:nvPr/>
        </p:nvSpPr>
        <p:spPr>
          <a:xfrm>
            <a:off x="2764456" y="5745573"/>
            <a:ext cx="851913" cy="807023"/>
          </a:xfrm>
          <a:prstGeom prst="rect">
            <a:avLst/>
          </a:prstGeom>
        </p:spPr>
        <p:txBody>
          <a:bodyPr lIns="0" tIns="0" rIns="0" bIns="0" rtlCol="0" anchor="t">
            <a:spAutoFit/>
          </a:bodyPr>
          <a:lstStyle/>
          <a:p>
            <a:pPr marL="0" lvl="0" indent="0" algn="l">
              <a:lnSpc>
                <a:spcPts val="5506"/>
              </a:lnSpc>
            </a:pPr>
            <a:endParaRPr/>
          </a:p>
        </p:txBody>
      </p:sp>
      <p:sp>
        <p:nvSpPr>
          <p:cNvPr id="16" name="TextBox 16"/>
          <p:cNvSpPr txBox="1"/>
          <p:nvPr/>
        </p:nvSpPr>
        <p:spPr>
          <a:xfrm>
            <a:off x="2764456" y="7309197"/>
            <a:ext cx="1580066" cy="807023"/>
          </a:xfrm>
          <a:prstGeom prst="rect">
            <a:avLst/>
          </a:prstGeom>
        </p:spPr>
        <p:txBody>
          <a:bodyPr lIns="0" tIns="0" rIns="0" bIns="0" rtlCol="0" anchor="t">
            <a:spAutoFit/>
          </a:bodyPr>
          <a:lstStyle/>
          <a:p>
            <a:pPr marL="0" lvl="0" indent="0" algn="l">
              <a:lnSpc>
                <a:spcPts val="5506"/>
              </a:lnSpc>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F6FF"/>
        </a:solidFill>
        <a:effectLst/>
      </p:bgPr>
    </p:bg>
    <p:spTree>
      <p:nvGrpSpPr>
        <p:cNvPr id="1" name=""/>
        <p:cNvGrpSpPr/>
        <p:nvPr/>
      </p:nvGrpSpPr>
      <p:grpSpPr>
        <a:xfrm>
          <a:off x="0" y="0"/>
          <a:ext cx="0" cy="0"/>
          <a:chOff x="0" y="0"/>
          <a:chExt cx="0" cy="0"/>
        </a:xfrm>
      </p:grpSpPr>
      <p:sp>
        <p:nvSpPr>
          <p:cNvPr id="2" name="Freeform 2"/>
          <p:cNvSpPr/>
          <p:nvPr/>
        </p:nvSpPr>
        <p:spPr>
          <a:xfrm rot="-3855666">
            <a:off x="15046734" y="6345056"/>
            <a:ext cx="5662001" cy="5721512"/>
          </a:xfrm>
          <a:custGeom>
            <a:avLst/>
            <a:gdLst/>
            <a:ahLst/>
            <a:cxnLst/>
            <a:rect l="l" t="t" r="r" b="b"/>
            <a:pathLst>
              <a:path w="5662001" h="5721512">
                <a:moveTo>
                  <a:pt x="0" y="0"/>
                </a:moveTo>
                <a:lnTo>
                  <a:pt x="5662001" y="0"/>
                </a:lnTo>
                <a:lnTo>
                  <a:pt x="5662001"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721374">
            <a:off x="-1084773" y="-3327728"/>
            <a:ext cx="5662001" cy="5721512"/>
          </a:xfrm>
          <a:custGeom>
            <a:avLst/>
            <a:gdLst/>
            <a:ahLst/>
            <a:cxnLst/>
            <a:rect l="l" t="t" r="r" b="b"/>
            <a:pathLst>
              <a:path w="5662001" h="5721512">
                <a:moveTo>
                  <a:pt x="0" y="0"/>
                </a:moveTo>
                <a:lnTo>
                  <a:pt x="5662002" y="0"/>
                </a:lnTo>
                <a:lnTo>
                  <a:pt x="5662002"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715390" y="8128033"/>
            <a:ext cx="1566543" cy="156654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7D8FF"/>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7" name="Group 7"/>
          <p:cNvGrpSpPr/>
          <p:nvPr/>
        </p:nvGrpSpPr>
        <p:grpSpPr>
          <a:xfrm>
            <a:off x="2764456" y="9205812"/>
            <a:ext cx="11234139" cy="52488"/>
            <a:chOff x="0" y="0"/>
            <a:chExt cx="635000" cy="2967"/>
          </a:xfrm>
        </p:grpSpPr>
        <p:sp>
          <p:nvSpPr>
            <p:cNvPr id="8" name="Freeform 8"/>
            <p:cNvSpPr/>
            <p:nvPr/>
          </p:nvSpPr>
          <p:spPr>
            <a:xfrm>
              <a:off x="0" y="0"/>
              <a:ext cx="635000" cy="2967"/>
            </a:xfrm>
            <a:custGeom>
              <a:avLst/>
              <a:gdLst/>
              <a:ahLst/>
              <a:cxnLst/>
              <a:rect l="l" t="t" r="r" b="b"/>
              <a:pathLst>
                <a:path w="635000" h="2967">
                  <a:moveTo>
                    <a:pt x="0" y="0"/>
                  </a:moveTo>
                  <a:lnTo>
                    <a:pt x="635000" y="0"/>
                  </a:lnTo>
                  <a:lnTo>
                    <a:pt x="635000" y="2967"/>
                  </a:lnTo>
                  <a:lnTo>
                    <a:pt x="0" y="2967"/>
                  </a:lnTo>
                  <a:close/>
                </a:path>
              </a:pathLst>
            </a:custGeom>
            <a:solidFill>
              <a:srgbClr val="81C1F4"/>
            </a:solidFill>
          </p:spPr>
        </p:sp>
        <p:sp>
          <p:nvSpPr>
            <p:cNvPr id="9" name="TextBox 9"/>
            <p:cNvSpPr txBox="1"/>
            <p:nvPr/>
          </p:nvSpPr>
          <p:spPr>
            <a:xfrm>
              <a:off x="0" y="-38100"/>
              <a:ext cx="635000" cy="41067"/>
            </a:xfrm>
            <a:prstGeom prst="rect">
              <a:avLst/>
            </a:prstGeom>
          </p:spPr>
          <p:txBody>
            <a:bodyPr lIns="50800" tIns="50800" rIns="50800" bIns="50800" rtlCol="0" anchor="ctr"/>
            <a:lstStyle/>
            <a:p>
              <a:pPr marL="0" lvl="0" indent="0" algn="ctr">
                <a:lnSpc>
                  <a:spcPts val="2659"/>
                </a:lnSpc>
              </a:pPr>
              <a:endParaRPr/>
            </a:p>
          </p:txBody>
        </p:sp>
      </p:grpSp>
      <p:grpSp>
        <p:nvGrpSpPr>
          <p:cNvPr id="10" name="Group 10"/>
          <p:cNvGrpSpPr>
            <a:grpSpLocks noChangeAspect="1"/>
          </p:cNvGrpSpPr>
          <p:nvPr/>
        </p:nvGrpSpPr>
        <p:grpSpPr>
          <a:xfrm>
            <a:off x="2487847" y="3869873"/>
            <a:ext cx="4801502" cy="4801502"/>
            <a:chOff x="0" y="0"/>
            <a:chExt cx="6350000" cy="6350000"/>
          </a:xfrm>
        </p:grpSpPr>
        <p:sp>
          <p:nvSpPr>
            <p:cNvPr id="11" name="Freeform 11"/>
            <p:cNvSpPr/>
            <p:nvPr/>
          </p:nvSpPr>
          <p:spPr>
            <a:xfrm>
              <a:off x="0" y="0"/>
              <a:ext cx="6350000" cy="6350000"/>
            </a:xfrm>
            <a:custGeom>
              <a:avLst/>
              <a:gdLst/>
              <a:ahLst/>
              <a:cxnLst/>
              <a:rect l="l" t="t" r="r" b="b"/>
              <a:pathLst>
                <a:path w="6350000" h="6350000">
                  <a:moveTo>
                    <a:pt x="0" y="3175000"/>
                  </a:moveTo>
                  <a:cubicBezTo>
                    <a:pt x="0" y="4928870"/>
                    <a:pt x="1421130" y="6350000"/>
                    <a:pt x="3175000" y="6350000"/>
                  </a:cubicBezTo>
                  <a:lnTo>
                    <a:pt x="6350000" y="6350000"/>
                  </a:lnTo>
                  <a:lnTo>
                    <a:pt x="6350000" y="3175000"/>
                  </a:lnTo>
                  <a:cubicBezTo>
                    <a:pt x="6350000" y="1421130"/>
                    <a:pt x="4928870" y="0"/>
                    <a:pt x="3175000" y="0"/>
                  </a:cubicBezTo>
                  <a:cubicBezTo>
                    <a:pt x="1421130" y="0"/>
                    <a:pt x="0" y="1421130"/>
                    <a:pt x="0" y="3175000"/>
                  </a:cubicBezTo>
                  <a:close/>
                </a:path>
              </a:pathLst>
            </a:custGeom>
            <a:solidFill>
              <a:srgbClr val="81C1F4"/>
            </a:solidFill>
          </p:spPr>
        </p:sp>
        <p:sp>
          <p:nvSpPr>
            <p:cNvPr id="12" name="Freeform 12"/>
            <p:cNvSpPr/>
            <p:nvPr/>
          </p:nvSpPr>
          <p:spPr>
            <a:xfrm>
              <a:off x="391160" y="364490"/>
              <a:ext cx="5619750" cy="5621020"/>
            </a:xfrm>
            <a:custGeom>
              <a:avLst/>
              <a:gdLst/>
              <a:ahLst/>
              <a:cxnLst/>
              <a:rect l="l" t="t" r="r" b="b"/>
              <a:pathLst>
                <a:path w="5619750" h="5621020">
                  <a:moveTo>
                    <a:pt x="2810510" y="0"/>
                  </a:moveTo>
                  <a:cubicBezTo>
                    <a:pt x="4362450" y="0"/>
                    <a:pt x="5619750" y="1258570"/>
                    <a:pt x="5619750" y="2810510"/>
                  </a:cubicBezTo>
                  <a:cubicBezTo>
                    <a:pt x="5619750" y="4362450"/>
                    <a:pt x="4361180" y="5621020"/>
                    <a:pt x="2810510" y="5621020"/>
                  </a:cubicBezTo>
                  <a:cubicBezTo>
                    <a:pt x="1258570" y="5621020"/>
                    <a:pt x="0" y="4362450"/>
                    <a:pt x="0" y="2810510"/>
                  </a:cubicBezTo>
                  <a:cubicBezTo>
                    <a:pt x="1270" y="1258570"/>
                    <a:pt x="1258570" y="0"/>
                    <a:pt x="2810510" y="0"/>
                  </a:cubicBezTo>
                  <a:close/>
                </a:path>
              </a:pathLst>
            </a:custGeom>
            <a:blipFill>
              <a:blip r:embed="rId3"/>
              <a:stretch>
                <a:fillRect l="-11" r="-11"/>
              </a:stretch>
            </a:blipFill>
          </p:spPr>
        </p:sp>
      </p:grpSp>
      <p:sp>
        <p:nvSpPr>
          <p:cNvPr id="13" name="TextBox 13"/>
          <p:cNvSpPr txBox="1"/>
          <p:nvPr/>
        </p:nvSpPr>
        <p:spPr>
          <a:xfrm>
            <a:off x="2764456" y="2397833"/>
            <a:ext cx="13073588" cy="1178965"/>
          </a:xfrm>
          <a:prstGeom prst="rect">
            <a:avLst/>
          </a:prstGeom>
        </p:spPr>
        <p:txBody>
          <a:bodyPr lIns="0" tIns="0" rIns="0" bIns="0" rtlCol="0" anchor="t">
            <a:spAutoFit/>
          </a:bodyPr>
          <a:lstStyle/>
          <a:p>
            <a:pPr marL="0" lvl="0" indent="0" algn="l">
              <a:lnSpc>
                <a:spcPts val="8181"/>
              </a:lnSpc>
            </a:pPr>
            <a:r>
              <a:rPr lang="en-US" sz="8612" b="1">
                <a:solidFill>
                  <a:srgbClr val="1C74BB"/>
                </a:solidFill>
                <a:latin typeface="Poppins Bold"/>
                <a:ea typeface="Poppins Bold"/>
                <a:cs typeface="Poppins Bold"/>
                <a:sym typeface="Poppins Bold"/>
              </a:rPr>
              <a:t>OBJECTIVES</a:t>
            </a:r>
          </a:p>
        </p:txBody>
      </p:sp>
      <p:sp>
        <p:nvSpPr>
          <p:cNvPr id="14" name="TextBox 14"/>
          <p:cNvSpPr txBox="1"/>
          <p:nvPr/>
        </p:nvSpPr>
        <p:spPr>
          <a:xfrm>
            <a:off x="7820729" y="4692243"/>
            <a:ext cx="9580602" cy="2315977"/>
          </a:xfrm>
          <a:prstGeom prst="rect">
            <a:avLst/>
          </a:prstGeom>
        </p:spPr>
        <p:txBody>
          <a:bodyPr lIns="0" tIns="0" rIns="0" bIns="0" rtlCol="0" anchor="t">
            <a:spAutoFit/>
          </a:bodyPr>
          <a:lstStyle/>
          <a:p>
            <a:pPr marL="0" lvl="0" indent="0" algn="just">
              <a:lnSpc>
                <a:spcPts val="3059"/>
              </a:lnSpc>
            </a:pPr>
            <a:r>
              <a:rPr lang="en-US" sz="2683">
                <a:solidFill>
                  <a:srgbClr val="1C74BB"/>
                </a:solidFill>
                <a:latin typeface="Poppins"/>
                <a:ea typeface="Poppins"/>
                <a:cs typeface="Poppins"/>
                <a:sym typeface="Poppins"/>
              </a:rPr>
              <a:t>The main objective of this project is to develop an automated system for analyzing student performance. It aims to identify weak and strong students, provide meaningful insights, and assist educators in improving academic outcomes through efficient data analysis.</a:t>
            </a:r>
          </a:p>
          <a:p>
            <a:pPr marL="0" lvl="0" indent="0" algn="just">
              <a:lnSpc>
                <a:spcPts val="3059"/>
              </a:lnSpc>
            </a:pPr>
            <a:endParaRPr lang="en-US" sz="2683">
              <a:solidFill>
                <a:srgbClr val="1C74BB"/>
              </a:solidFill>
              <a:latin typeface="Poppins"/>
              <a:ea typeface="Poppins"/>
              <a:cs typeface="Poppins"/>
              <a:sym typeface="Poppins"/>
            </a:endParaRPr>
          </a:p>
        </p:txBody>
      </p:sp>
      <p:sp>
        <p:nvSpPr>
          <p:cNvPr id="15" name="TextBox 15"/>
          <p:cNvSpPr txBox="1"/>
          <p:nvPr/>
        </p:nvSpPr>
        <p:spPr>
          <a:xfrm>
            <a:off x="1210522" y="8319572"/>
            <a:ext cx="1071411" cy="1316604"/>
          </a:xfrm>
          <a:prstGeom prst="rect">
            <a:avLst/>
          </a:prstGeom>
        </p:spPr>
        <p:txBody>
          <a:bodyPr lIns="0" tIns="0" rIns="0" bIns="0" rtlCol="0" anchor="t">
            <a:spAutoFit/>
          </a:bodyPr>
          <a:lstStyle/>
          <a:p>
            <a:pPr marL="0" lvl="0" indent="0" algn="l">
              <a:lnSpc>
                <a:spcPts val="9039"/>
              </a:lnSpc>
            </a:pPr>
            <a:r>
              <a:rPr lang="en-US" sz="9515" b="1">
                <a:solidFill>
                  <a:srgbClr val="1C74BB"/>
                </a:solidFill>
                <a:latin typeface="Poppins Bold"/>
                <a:ea typeface="Poppins Bold"/>
                <a:cs typeface="Poppins Bold"/>
                <a:sym typeface="Poppins Bold"/>
              </a:rPr>
              <a:t>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F6FF"/>
        </a:solidFill>
        <a:effectLst/>
      </p:bgPr>
    </p:bg>
    <p:spTree>
      <p:nvGrpSpPr>
        <p:cNvPr id="1" name=""/>
        <p:cNvGrpSpPr/>
        <p:nvPr/>
      </p:nvGrpSpPr>
      <p:grpSpPr>
        <a:xfrm>
          <a:off x="0" y="0"/>
          <a:ext cx="0" cy="0"/>
          <a:chOff x="0" y="0"/>
          <a:chExt cx="0" cy="0"/>
        </a:xfrm>
      </p:grpSpPr>
      <p:sp>
        <p:nvSpPr>
          <p:cNvPr id="2" name="Freeform 2"/>
          <p:cNvSpPr/>
          <p:nvPr/>
        </p:nvSpPr>
        <p:spPr>
          <a:xfrm rot="-721374">
            <a:off x="-1084773" y="-3327728"/>
            <a:ext cx="5662001" cy="5721512"/>
          </a:xfrm>
          <a:custGeom>
            <a:avLst/>
            <a:gdLst/>
            <a:ahLst/>
            <a:cxnLst/>
            <a:rect l="l" t="t" r="r" b="b"/>
            <a:pathLst>
              <a:path w="5662001" h="5721512">
                <a:moveTo>
                  <a:pt x="0" y="0"/>
                </a:moveTo>
                <a:lnTo>
                  <a:pt x="5662002" y="0"/>
                </a:lnTo>
                <a:lnTo>
                  <a:pt x="5662002"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715390" y="8128033"/>
            <a:ext cx="1566543" cy="156654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7D8FF"/>
            </a:solidFill>
          </p:spPr>
        </p:sp>
        <p:sp>
          <p:nvSpPr>
            <p:cNvPr id="5" name="TextBox 5"/>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3459850" y="9583688"/>
            <a:ext cx="11234139" cy="52488"/>
            <a:chOff x="0" y="0"/>
            <a:chExt cx="635000" cy="2967"/>
          </a:xfrm>
        </p:grpSpPr>
        <p:sp>
          <p:nvSpPr>
            <p:cNvPr id="7" name="Freeform 7"/>
            <p:cNvSpPr/>
            <p:nvPr/>
          </p:nvSpPr>
          <p:spPr>
            <a:xfrm>
              <a:off x="0" y="0"/>
              <a:ext cx="635000" cy="2967"/>
            </a:xfrm>
            <a:custGeom>
              <a:avLst/>
              <a:gdLst/>
              <a:ahLst/>
              <a:cxnLst/>
              <a:rect l="l" t="t" r="r" b="b"/>
              <a:pathLst>
                <a:path w="635000" h="2967">
                  <a:moveTo>
                    <a:pt x="0" y="0"/>
                  </a:moveTo>
                  <a:lnTo>
                    <a:pt x="635000" y="0"/>
                  </a:lnTo>
                  <a:lnTo>
                    <a:pt x="635000" y="2967"/>
                  </a:lnTo>
                  <a:lnTo>
                    <a:pt x="0" y="2967"/>
                  </a:lnTo>
                  <a:close/>
                </a:path>
              </a:pathLst>
            </a:custGeom>
            <a:solidFill>
              <a:srgbClr val="81C1F4"/>
            </a:solidFill>
          </p:spPr>
        </p:sp>
        <p:sp>
          <p:nvSpPr>
            <p:cNvPr id="8" name="TextBox 8"/>
            <p:cNvSpPr txBox="1"/>
            <p:nvPr/>
          </p:nvSpPr>
          <p:spPr>
            <a:xfrm>
              <a:off x="0" y="-38100"/>
              <a:ext cx="635000" cy="41067"/>
            </a:xfrm>
            <a:prstGeom prst="rect">
              <a:avLst/>
            </a:prstGeom>
          </p:spPr>
          <p:txBody>
            <a:bodyPr lIns="50800" tIns="50800" rIns="50800" bIns="50800" rtlCol="0" anchor="ctr"/>
            <a:lstStyle/>
            <a:p>
              <a:pPr marL="0" lvl="0" indent="0" algn="ctr">
                <a:lnSpc>
                  <a:spcPts val="2659"/>
                </a:lnSpc>
              </a:pPr>
              <a:endParaRPr/>
            </a:p>
          </p:txBody>
        </p:sp>
      </p:grpSp>
      <p:sp>
        <p:nvSpPr>
          <p:cNvPr id="10" name="TextBox 10"/>
          <p:cNvSpPr txBox="1"/>
          <p:nvPr/>
        </p:nvSpPr>
        <p:spPr>
          <a:xfrm>
            <a:off x="1746228" y="2451834"/>
            <a:ext cx="13073588" cy="1178965"/>
          </a:xfrm>
          <a:prstGeom prst="rect">
            <a:avLst/>
          </a:prstGeom>
        </p:spPr>
        <p:txBody>
          <a:bodyPr lIns="0" tIns="0" rIns="0" bIns="0" rtlCol="0" anchor="t">
            <a:spAutoFit/>
          </a:bodyPr>
          <a:lstStyle/>
          <a:p>
            <a:pPr marL="0" lvl="0" indent="0" algn="l">
              <a:lnSpc>
                <a:spcPts val="8181"/>
              </a:lnSpc>
            </a:pPr>
            <a:r>
              <a:rPr lang="en-US" sz="8612" b="1">
                <a:solidFill>
                  <a:srgbClr val="1C74BB"/>
                </a:solidFill>
                <a:latin typeface="Poppins Bold"/>
                <a:ea typeface="Poppins Bold"/>
                <a:cs typeface="Poppins Bold"/>
                <a:sym typeface="Poppins Bold"/>
              </a:rPr>
              <a:t>SYSTEM ARCHITECTURE</a:t>
            </a:r>
          </a:p>
        </p:txBody>
      </p:sp>
      <p:sp>
        <p:nvSpPr>
          <p:cNvPr id="11" name="TextBox 11"/>
          <p:cNvSpPr txBox="1"/>
          <p:nvPr/>
        </p:nvSpPr>
        <p:spPr>
          <a:xfrm>
            <a:off x="2066786" y="4192699"/>
            <a:ext cx="8072918" cy="3935335"/>
          </a:xfrm>
          <a:prstGeom prst="rect">
            <a:avLst/>
          </a:prstGeom>
        </p:spPr>
        <p:txBody>
          <a:bodyPr lIns="0" tIns="0" rIns="0" bIns="0" rtlCol="0" anchor="t">
            <a:spAutoFit/>
          </a:bodyPr>
          <a:lstStyle/>
          <a:p>
            <a:pPr marL="0" lvl="0" indent="0" algn="just">
              <a:lnSpc>
                <a:spcPts val="3075"/>
              </a:lnSpc>
            </a:pPr>
            <a:r>
              <a:rPr lang="en-US" sz="2698">
                <a:solidFill>
                  <a:srgbClr val="1C74BB"/>
                </a:solidFill>
                <a:latin typeface="Poppins"/>
                <a:ea typeface="Poppins"/>
                <a:cs typeface="Poppins"/>
                <a:sym typeface="Poppins"/>
              </a:rPr>
              <a:t>The system follows a three-tier architecture consisting of the presentation layer, application layer, and data layer. The presentation layer handles user interaction through the frontend, while the application layer processes data and performs Machine Learning-based analysis and prediction. The data layer stores student information such as marks and attendance, ensuring efficient data management and smooth system operation.</a:t>
            </a:r>
          </a:p>
        </p:txBody>
      </p:sp>
      <p:sp>
        <p:nvSpPr>
          <p:cNvPr id="12" name="TextBox 12"/>
          <p:cNvSpPr txBox="1"/>
          <p:nvPr/>
        </p:nvSpPr>
        <p:spPr>
          <a:xfrm>
            <a:off x="1210522" y="8319572"/>
            <a:ext cx="1071411" cy="1316604"/>
          </a:xfrm>
          <a:prstGeom prst="rect">
            <a:avLst/>
          </a:prstGeom>
        </p:spPr>
        <p:txBody>
          <a:bodyPr lIns="0" tIns="0" rIns="0" bIns="0" rtlCol="0" anchor="t">
            <a:spAutoFit/>
          </a:bodyPr>
          <a:lstStyle/>
          <a:p>
            <a:pPr marL="0" lvl="0" indent="0" algn="l">
              <a:lnSpc>
                <a:spcPts val="9039"/>
              </a:lnSpc>
            </a:pPr>
            <a:r>
              <a:rPr lang="en-US" sz="9515" b="1">
                <a:solidFill>
                  <a:srgbClr val="1C74BB"/>
                </a:solidFill>
                <a:latin typeface="Poppins Bold"/>
                <a:ea typeface="Poppins Bold"/>
                <a:cs typeface="Poppins Bold"/>
                <a:sym typeface="Poppins Bold"/>
              </a:rPr>
              <a:t>7</a:t>
            </a:r>
          </a:p>
        </p:txBody>
      </p:sp>
      <p:pic>
        <p:nvPicPr>
          <p:cNvPr id="14" name="Picture 13">
            <a:extLst>
              <a:ext uri="{FF2B5EF4-FFF2-40B4-BE49-F238E27FC236}">
                <a16:creationId xmlns:a16="http://schemas.microsoft.com/office/drawing/2014/main" id="{73E15717-BBE5-3F0F-7A3D-136EC32FA4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39704" y="3028433"/>
            <a:ext cx="6510335" cy="681670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F6FF"/>
        </a:solidFill>
        <a:effectLst/>
      </p:bgPr>
    </p:bg>
    <p:spTree>
      <p:nvGrpSpPr>
        <p:cNvPr id="1" name=""/>
        <p:cNvGrpSpPr/>
        <p:nvPr/>
      </p:nvGrpSpPr>
      <p:grpSpPr>
        <a:xfrm>
          <a:off x="0" y="0"/>
          <a:ext cx="0" cy="0"/>
          <a:chOff x="0" y="0"/>
          <a:chExt cx="0" cy="0"/>
        </a:xfrm>
      </p:grpSpPr>
      <p:sp>
        <p:nvSpPr>
          <p:cNvPr id="2" name="Freeform 2"/>
          <p:cNvSpPr/>
          <p:nvPr/>
        </p:nvSpPr>
        <p:spPr>
          <a:xfrm rot="-721374">
            <a:off x="-1084773" y="-3327728"/>
            <a:ext cx="5662001" cy="5721512"/>
          </a:xfrm>
          <a:custGeom>
            <a:avLst/>
            <a:gdLst/>
            <a:ahLst/>
            <a:cxnLst/>
            <a:rect l="l" t="t" r="r" b="b"/>
            <a:pathLst>
              <a:path w="5662001" h="5721512">
                <a:moveTo>
                  <a:pt x="0" y="0"/>
                </a:moveTo>
                <a:lnTo>
                  <a:pt x="5662002" y="0"/>
                </a:lnTo>
                <a:lnTo>
                  <a:pt x="5662002"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715390" y="8128033"/>
            <a:ext cx="1566543" cy="156654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7D8FF"/>
            </a:solidFill>
          </p:spPr>
        </p:sp>
        <p:sp>
          <p:nvSpPr>
            <p:cNvPr id="5" name="TextBox 5"/>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2764456" y="9205812"/>
            <a:ext cx="11234139" cy="52488"/>
            <a:chOff x="0" y="0"/>
            <a:chExt cx="635000" cy="2967"/>
          </a:xfrm>
        </p:grpSpPr>
        <p:sp>
          <p:nvSpPr>
            <p:cNvPr id="7" name="Freeform 7"/>
            <p:cNvSpPr/>
            <p:nvPr/>
          </p:nvSpPr>
          <p:spPr>
            <a:xfrm>
              <a:off x="0" y="0"/>
              <a:ext cx="635000" cy="2967"/>
            </a:xfrm>
            <a:custGeom>
              <a:avLst/>
              <a:gdLst/>
              <a:ahLst/>
              <a:cxnLst/>
              <a:rect l="l" t="t" r="r" b="b"/>
              <a:pathLst>
                <a:path w="635000" h="2967">
                  <a:moveTo>
                    <a:pt x="0" y="0"/>
                  </a:moveTo>
                  <a:lnTo>
                    <a:pt x="635000" y="0"/>
                  </a:lnTo>
                  <a:lnTo>
                    <a:pt x="635000" y="2967"/>
                  </a:lnTo>
                  <a:lnTo>
                    <a:pt x="0" y="2967"/>
                  </a:lnTo>
                  <a:close/>
                </a:path>
              </a:pathLst>
            </a:custGeom>
            <a:solidFill>
              <a:srgbClr val="81C1F4"/>
            </a:solidFill>
          </p:spPr>
        </p:sp>
        <p:sp>
          <p:nvSpPr>
            <p:cNvPr id="8" name="TextBox 8"/>
            <p:cNvSpPr txBox="1"/>
            <p:nvPr/>
          </p:nvSpPr>
          <p:spPr>
            <a:xfrm>
              <a:off x="0" y="-38100"/>
              <a:ext cx="635000" cy="41067"/>
            </a:xfrm>
            <a:prstGeom prst="rect">
              <a:avLst/>
            </a:prstGeom>
          </p:spPr>
          <p:txBody>
            <a:bodyPr lIns="50800" tIns="50800" rIns="50800" bIns="50800" rtlCol="0" anchor="ctr"/>
            <a:lstStyle/>
            <a:p>
              <a:pPr marL="0" lvl="0" indent="0" algn="ctr">
                <a:lnSpc>
                  <a:spcPts val="2659"/>
                </a:lnSpc>
              </a:pPr>
              <a:endParaRPr/>
            </a:p>
          </p:txBody>
        </p:sp>
      </p:grpSp>
      <p:sp>
        <p:nvSpPr>
          <p:cNvPr id="10" name="TextBox 10"/>
          <p:cNvSpPr txBox="1"/>
          <p:nvPr/>
        </p:nvSpPr>
        <p:spPr>
          <a:xfrm>
            <a:off x="5985437" y="1335916"/>
            <a:ext cx="5403920" cy="1178965"/>
          </a:xfrm>
          <a:prstGeom prst="rect">
            <a:avLst/>
          </a:prstGeom>
        </p:spPr>
        <p:txBody>
          <a:bodyPr lIns="0" tIns="0" rIns="0" bIns="0" rtlCol="0" anchor="t">
            <a:spAutoFit/>
          </a:bodyPr>
          <a:lstStyle/>
          <a:p>
            <a:pPr marL="0" lvl="0" indent="0" algn="l">
              <a:lnSpc>
                <a:spcPts val="8181"/>
              </a:lnSpc>
            </a:pPr>
            <a:r>
              <a:rPr lang="en-US" sz="8612" b="1">
                <a:solidFill>
                  <a:srgbClr val="1C74BB"/>
                </a:solidFill>
                <a:latin typeface="Poppins Bold"/>
                <a:ea typeface="Poppins Bold"/>
                <a:cs typeface="Poppins Bold"/>
                <a:sym typeface="Poppins Bold"/>
              </a:rPr>
              <a:t>MODULES</a:t>
            </a:r>
          </a:p>
        </p:txBody>
      </p:sp>
      <p:sp>
        <p:nvSpPr>
          <p:cNvPr id="11" name="TextBox 11"/>
          <p:cNvSpPr txBox="1"/>
          <p:nvPr/>
        </p:nvSpPr>
        <p:spPr>
          <a:xfrm>
            <a:off x="1564406" y="3356693"/>
            <a:ext cx="13218394" cy="3447098"/>
          </a:xfrm>
          <a:prstGeom prst="rect">
            <a:avLst/>
          </a:prstGeom>
        </p:spPr>
        <p:txBody>
          <a:bodyPr wrap="square" lIns="0" tIns="0" rIns="0" bIns="0" rtlCol="0" anchor="t">
            <a:spAutoFit/>
          </a:bodyPr>
          <a:lstStyle/>
          <a:p>
            <a:pPr marL="457200" indent="-457200">
              <a:buFont typeface="Wingdings" panose="05000000000000000000" pitchFamily="2" charset="2"/>
              <a:buChar char="Ø"/>
            </a:pPr>
            <a:r>
              <a:rPr lang="en-IN" sz="2800" b="1" dirty="0">
                <a:solidFill>
                  <a:srgbClr val="0070C0"/>
                </a:solidFill>
                <a:latin typeface="Poppins" panose="00000500000000000000" pitchFamily="2" charset="0"/>
                <a:cs typeface="Poppins" panose="00000500000000000000" pitchFamily="2" charset="0"/>
              </a:rPr>
              <a:t>User Module</a:t>
            </a:r>
            <a:r>
              <a:rPr lang="en-IN" sz="2800" dirty="0">
                <a:solidFill>
                  <a:srgbClr val="0070C0"/>
                </a:solidFill>
                <a:latin typeface="Poppins" panose="00000500000000000000" pitchFamily="2" charset="0"/>
                <a:cs typeface="Poppins" panose="00000500000000000000" pitchFamily="2" charset="0"/>
              </a:rPr>
              <a:t> – User logs in securely using valid credentials. </a:t>
            </a:r>
          </a:p>
          <a:p>
            <a:pPr marL="457200" indent="-457200">
              <a:buFont typeface="Wingdings" panose="05000000000000000000" pitchFamily="2" charset="2"/>
              <a:buChar char="Ø"/>
            </a:pPr>
            <a:r>
              <a:rPr lang="en-IN" sz="2800" b="1" dirty="0">
                <a:solidFill>
                  <a:srgbClr val="0070C0"/>
                </a:solidFill>
                <a:latin typeface="Poppins" panose="00000500000000000000" pitchFamily="2" charset="0"/>
                <a:cs typeface="Poppins" panose="00000500000000000000" pitchFamily="2" charset="0"/>
              </a:rPr>
              <a:t>Data Management Module</a:t>
            </a:r>
            <a:r>
              <a:rPr lang="en-IN" sz="2800" dirty="0">
                <a:solidFill>
                  <a:srgbClr val="0070C0"/>
                </a:solidFill>
                <a:latin typeface="Poppins" panose="00000500000000000000" pitchFamily="2" charset="0"/>
                <a:cs typeface="Poppins" panose="00000500000000000000" pitchFamily="2" charset="0"/>
              </a:rPr>
              <a:t> – Student records are collected and stored. </a:t>
            </a:r>
          </a:p>
          <a:p>
            <a:pPr marL="457200" indent="-457200">
              <a:buFont typeface="Wingdings" panose="05000000000000000000" pitchFamily="2" charset="2"/>
              <a:buChar char="Ø"/>
            </a:pPr>
            <a:r>
              <a:rPr lang="en-IN" sz="2800" b="1" dirty="0">
                <a:solidFill>
                  <a:srgbClr val="0070C0"/>
                </a:solidFill>
                <a:latin typeface="Poppins" panose="00000500000000000000" pitchFamily="2" charset="0"/>
                <a:cs typeface="Poppins" panose="00000500000000000000" pitchFamily="2" charset="0"/>
              </a:rPr>
              <a:t>Data Preprocessing Module</a:t>
            </a:r>
            <a:r>
              <a:rPr lang="en-IN" sz="2800" dirty="0">
                <a:solidFill>
                  <a:srgbClr val="0070C0"/>
                </a:solidFill>
                <a:latin typeface="Poppins" panose="00000500000000000000" pitchFamily="2" charset="0"/>
                <a:cs typeface="Poppins" panose="00000500000000000000" pitchFamily="2" charset="0"/>
              </a:rPr>
              <a:t> – Data is cleaned, encoded, and scaled. </a:t>
            </a:r>
          </a:p>
          <a:p>
            <a:pPr marL="457200" indent="-457200">
              <a:buFont typeface="Wingdings" panose="05000000000000000000" pitchFamily="2" charset="2"/>
              <a:buChar char="Ø"/>
            </a:pPr>
            <a:r>
              <a:rPr lang="en-IN" sz="2800" b="1" dirty="0">
                <a:solidFill>
                  <a:srgbClr val="0070C0"/>
                </a:solidFill>
                <a:latin typeface="Poppins" panose="00000500000000000000" pitchFamily="2" charset="0"/>
                <a:cs typeface="Poppins" panose="00000500000000000000" pitchFamily="2" charset="0"/>
              </a:rPr>
              <a:t>Analysis Module</a:t>
            </a:r>
            <a:r>
              <a:rPr lang="en-IN" sz="2800" dirty="0">
                <a:solidFill>
                  <a:srgbClr val="0070C0"/>
                </a:solidFill>
                <a:latin typeface="Poppins" panose="00000500000000000000" pitchFamily="2" charset="0"/>
                <a:cs typeface="Poppins" panose="00000500000000000000" pitchFamily="2" charset="0"/>
              </a:rPr>
              <a:t> – Student performance trends are </a:t>
            </a:r>
            <a:r>
              <a:rPr lang="en-IN" sz="2800" dirty="0" err="1">
                <a:solidFill>
                  <a:srgbClr val="0070C0"/>
                </a:solidFill>
                <a:latin typeface="Poppins" panose="00000500000000000000" pitchFamily="2" charset="0"/>
                <a:cs typeface="Poppins" panose="00000500000000000000" pitchFamily="2" charset="0"/>
              </a:rPr>
              <a:t>analyzed</a:t>
            </a:r>
            <a:r>
              <a:rPr lang="en-IN" sz="2800" dirty="0">
                <a:solidFill>
                  <a:srgbClr val="0070C0"/>
                </a:solidFill>
                <a:latin typeface="Poppins" panose="00000500000000000000" pitchFamily="2" charset="0"/>
                <a:cs typeface="Poppins" panose="00000500000000000000" pitchFamily="2" charset="0"/>
              </a:rPr>
              <a:t>. </a:t>
            </a:r>
          </a:p>
          <a:p>
            <a:pPr marL="457200" indent="-457200">
              <a:buFont typeface="Wingdings" panose="05000000000000000000" pitchFamily="2" charset="2"/>
              <a:buChar char="Ø"/>
            </a:pPr>
            <a:r>
              <a:rPr lang="en-IN" sz="2800" b="1" dirty="0">
                <a:solidFill>
                  <a:srgbClr val="0070C0"/>
                </a:solidFill>
                <a:latin typeface="Poppins" panose="00000500000000000000" pitchFamily="2" charset="0"/>
                <a:cs typeface="Poppins" panose="00000500000000000000" pitchFamily="2" charset="0"/>
              </a:rPr>
              <a:t>Prediction Module</a:t>
            </a:r>
            <a:r>
              <a:rPr lang="en-IN" sz="2800" dirty="0">
                <a:solidFill>
                  <a:srgbClr val="0070C0"/>
                </a:solidFill>
                <a:latin typeface="Poppins" panose="00000500000000000000" pitchFamily="2" charset="0"/>
                <a:cs typeface="Poppins" panose="00000500000000000000" pitchFamily="2" charset="0"/>
              </a:rPr>
              <a:t> – Machine Learning predicts student performance. </a:t>
            </a:r>
          </a:p>
          <a:p>
            <a:pPr marL="457200" indent="-457200">
              <a:buFont typeface="Wingdings" panose="05000000000000000000" pitchFamily="2" charset="2"/>
              <a:buChar char="Ø"/>
            </a:pPr>
            <a:r>
              <a:rPr lang="en-IN" sz="2800" b="1" dirty="0">
                <a:solidFill>
                  <a:srgbClr val="0070C0"/>
                </a:solidFill>
                <a:latin typeface="Poppins" panose="00000500000000000000" pitchFamily="2" charset="0"/>
                <a:cs typeface="Poppins" panose="00000500000000000000" pitchFamily="2" charset="0"/>
              </a:rPr>
              <a:t>Visualization Module</a:t>
            </a:r>
            <a:r>
              <a:rPr lang="en-IN" sz="2800" dirty="0">
                <a:solidFill>
                  <a:srgbClr val="0070C0"/>
                </a:solidFill>
                <a:latin typeface="Poppins" panose="00000500000000000000" pitchFamily="2" charset="0"/>
                <a:cs typeface="Poppins" panose="00000500000000000000" pitchFamily="2" charset="0"/>
              </a:rPr>
              <a:t> – Results are displayed using graphs and charts. </a:t>
            </a:r>
          </a:p>
          <a:p>
            <a:pPr marL="457200" indent="-457200">
              <a:buFont typeface="Wingdings" panose="05000000000000000000" pitchFamily="2" charset="2"/>
              <a:buChar char="Ø"/>
            </a:pPr>
            <a:r>
              <a:rPr lang="en-IN" sz="2800" b="1" dirty="0">
                <a:solidFill>
                  <a:srgbClr val="0070C0"/>
                </a:solidFill>
                <a:latin typeface="Poppins" panose="00000500000000000000" pitchFamily="2" charset="0"/>
                <a:cs typeface="Poppins" panose="00000500000000000000" pitchFamily="2" charset="0"/>
              </a:rPr>
              <a:t>Report Module</a:t>
            </a:r>
            <a:r>
              <a:rPr lang="en-IN" sz="2800" dirty="0">
                <a:solidFill>
                  <a:srgbClr val="0070C0"/>
                </a:solidFill>
                <a:latin typeface="Poppins" panose="00000500000000000000" pitchFamily="2" charset="0"/>
                <a:cs typeface="Poppins" panose="00000500000000000000" pitchFamily="2" charset="0"/>
              </a:rPr>
              <a:t> – Performance reports are generated for decision-making. </a:t>
            </a:r>
          </a:p>
        </p:txBody>
      </p:sp>
      <p:sp>
        <p:nvSpPr>
          <p:cNvPr id="12" name="TextBox 12"/>
          <p:cNvSpPr txBox="1"/>
          <p:nvPr/>
        </p:nvSpPr>
        <p:spPr>
          <a:xfrm>
            <a:off x="1028700" y="8319678"/>
            <a:ext cx="1071411" cy="1316604"/>
          </a:xfrm>
          <a:prstGeom prst="rect">
            <a:avLst/>
          </a:prstGeom>
        </p:spPr>
        <p:txBody>
          <a:bodyPr lIns="0" tIns="0" rIns="0" bIns="0" rtlCol="0" anchor="t">
            <a:spAutoFit/>
          </a:bodyPr>
          <a:lstStyle/>
          <a:p>
            <a:pPr marL="0" lvl="0" indent="0" algn="l">
              <a:lnSpc>
                <a:spcPts val="9039"/>
              </a:lnSpc>
            </a:pPr>
            <a:r>
              <a:rPr lang="en-US" sz="9515" b="1">
                <a:solidFill>
                  <a:srgbClr val="1C74BB"/>
                </a:solidFill>
                <a:latin typeface="Poppins Bold"/>
                <a:ea typeface="Poppins Bold"/>
                <a:cs typeface="Poppins Bold"/>
                <a:sym typeface="Poppins Bold"/>
              </a:rPr>
              <a:t>8</a:t>
            </a:r>
          </a:p>
        </p:txBody>
      </p:sp>
      <p:sp>
        <p:nvSpPr>
          <p:cNvPr id="13" name="TextBox 13"/>
          <p:cNvSpPr txBox="1"/>
          <p:nvPr/>
        </p:nvSpPr>
        <p:spPr>
          <a:xfrm>
            <a:off x="2764456" y="4181949"/>
            <a:ext cx="851913" cy="807023"/>
          </a:xfrm>
          <a:prstGeom prst="rect">
            <a:avLst/>
          </a:prstGeom>
        </p:spPr>
        <p:txBody>
          <a:bodyPr lIns="0" tIns="0" rIns="0" bIns="0" rtlCol="0" anchor="t">
            <a:spAutoFit/>
          </a:bodyPr>
          <a:lstStyle/>
          <a:p>
            <a:pPr marL="0" lvl="0" indent="0" algn="l">
              <a:lnSpc>
                <a:spcPts val="5506"/>
              </a:lnSpc>
            </a:pPr>
            <a:endParaRPr/>
          </a:p>
        </p:txBody>
      </p:sp>
      <p:sp>
        <p:nvSpPr>
          <p:cNvPr id="14" name="TextBox 14"/>
          <p:cNvSpPr txBox="1"/>
          <p:nvPr/>
        </p:nvSpPr>
        <p:spPr>
          <a:xfrm>
            <a:off x="2764456" y="5745573"/>
            <a:ext cx="851913" cy="807023"/>
          </a:xfrm>
          <a:prstGeom prst="rect">
            <a:avLst/>
          </a:prstGeom>
        </p:spPr>
        <p:txBody>
          <a:bodyPr lIns="0" tIns="0" rIns="0" bIns="0" rtlCol="0" anchor="t">
            <a:spAutoFit/>
          </a:bodyPr>
          <a:lstStyle/>
          <a:p>
            <a:pPr marL="0" lvl="0" indent="0" algn="l">
              <a:lnSpc>
                <a:spcPts val="5506"/>
              </a:lnSpc>
            </a:pPr>
            <a:endParaRPr/>
          </a:p>
        </p:txBody>
      </p:sp>
      <p:sp>
        <p:nvSpPr>
          <p:cNvPr id="15" name="TextBox 15"/>
          <p:cNvSpPr txBox="1"/>
          <p:nvPr/>
        </p:nvSpPr>
        <p:spPr>
          <a:xfrm>
            <a:off x="2764456" y="7309197"/>
            <a:ext cx="1580066" cy="807023"/>
          </a:xfrm>
          <a:prstGeom prst="rect">
            <a:avLst/>
          </a:prstGeom>
        </p:spPr>
        <p:txBody>
          <a:bodyPr lIns="0" tIns="0" rIns="0" bIns="0" rtlCol="0" anchor="t">
            <a:spAutoFit/>
          </a:bodyPr>
          <a:lstStyle/>
          <a:p>
            <a:pPr marL="0" lvl="0" indent="0" algn="l">
              <a:lnSpc>
                <a:spcPts val="5506"/>
              </a:lnSpc>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8F6FF"/>
        </a:solidFill>
        <a:effectLst/>
      </p:bgPr>
    </p:bg>
    <p:spTree>
      <p:nvGrpSpPr>
        <p:cNvPr id="1" name="">
          <a:extLst>
            <a:ext uri="{FF2B5EF4-FFF2-40B4-BE49-F238E27FC236}">
              <a16:creationId xmlns:a16="http://schemas.microsoft.com/office/drawing/2014/main" id="{36649FA6-E826-39DC-9C79-02071041832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EB71BDE-A905-D5D1-317F-F3E79662A4F0}"/>
              </a:ext>
            </a:extLst>
          </p:cNvPr>
          <p:cNvSpPr/>
          <p:nvPr/>
        </p:nvSpPr>
        <p:spPr>
          <a:xfrm rot="-721374">
            <a:off x="-1084773" y="-3327728"/>
            <a:ext cx="5662001" cy="5721512"/>
          </a:xfrm>
          <a:custGeom>
            <a:avLst/>
            <a:gdLst/>
            <a:ahLst/>
            <a:cxnLst/>
            <a:rect l="l" t="t" r="r" b="b"/>
            <a:pathLst>
              <a:path w="5662001" h="5721512">
                <a:moveTo>
                  <a:pt x="0" y="0"/>
                </a:moveTo>
                <a:lnTo>
                  <a:pt x="5662002" y="0"/>
                </a:lnTo>
                <a:lnTo>
                  <a:pt x="5662002"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a:extLst>
              <a:ext uri="{FF2B5EF4-FFF2-40B4-BE49-F238E27FC236}">
                <a16:creationId xmlns:a16="http://schemas.microsoft.com/office/drawing/2014/main" id="{15CA236E-2892-FF7B-3790-997CCD999881}"/>
              </a:ext>
            </a:extLst>
          </p:cNvPr>
          <p:cNvGrpSpPr/>
          <p:nvPr/>
        </p:nvGrpSpPr>
        <p:grpSpPr>
          <a:xfrm>
            <a:off x="715390" y="8128033"/>
            <a:ext cx="1566543" cy="1566543"/>
            <a:chOff x="0" y="0"/>
            <a:chExt cx="812800" cy="812800"/>
          </a:xfrm>
        </p:grpSpPr>
        <p:sp>
          <p:nvSpPr>
            <p:cNvPr id="4" name="Freeform 4">
              <a:extLst>
                <a:ext uri="{FF2B5EF4-FFF2-40B4-BE49-F238E27FC236}">
                  <a16:creationId xmlns:a16="http://schemas.microsoft.com/office/drawing/2014/main" id="{6C2BD7C1-9EF2-4409-2219-921C142D684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7D8FF"/>
            </a:solidFill>
          </p:spPr>
        </p:sp>
        <p:sp>
          <p:nvSpPr>
            <p:cNvPr id="5" name="TextBox 5">
              <a:extLst>
                <a:ext uri="{FF2B5EF4-FFF2-40B4-BE49-F238E27FC236}">
                  <a16:creationId xmlns:a16="http://schemas.microsoft.com/office/drawing/2014/main" id="{397618BF-160D-D9BA-8054-331832E4DF6B}"/>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a:extLst>
              <a:ext uri="{FF2B5EF4-FFF2-40B4-BE49-F238E27FC236}">
                <a16:creationId xmlns:a16="http://schemas.microsoft.com/office/drawing/2014/main" id="{B98AF812-939C-2E3E-4EDC-C7DA4BE9AC95}"/>
              </a:ext>
            </a:extLst>
          </p:cNvPr>
          <p:cNvGrpSpPr/>
          <p:nvPr/>
        </p:nvGrpSpPr>
        <p:grpSpPr>
          <a:xfrm>
            <a:off x="2764456" y="9205812"/>
            <a:ext cx="11234139" cy="52488"/>
            <a:chOff x="0" y="0"/>
            <a:chExt cx="635000" cy="2967"/>
          </a:xfrm>
        </p:grpSpPr>
        <p:sp>
          <p:nvSpPr>
            <p:cNvPr id="7" name="Freeform 7">
              <a:extLst>
                <a:ext uri="{FF2B5EF4-FFF2-40B4-BE49-F238E27FC236}">
                  <a16:creationId xmlns:a16="http://schemas.microsoft.com/office/drawing/2014/main" id="{41B14819-3061-047B-B7A8-753D310360FC}"/>
                </a:ext>
              </a:extLst>
            </p:cNvPr>
            <p:cNvSpPr/>
            <p:nvPr/>
          </p:nvSpPr>
          <p:spPr>
            <a:xfrm>
              <a:off x="0" y="0"/>
              <a:ext cx="635000" cy="2967"/>
            </a:xfrm>
            <a:custGeom>
              <a:avLst/>
              <a:gdLst/>
              <a:ahLst/>
              <a:cxnLst/>
              <a:rect l="l" t="t" r="r" b="b"/>
              <a:pathLst>
                <a:path w="635000" h="2967">
                  <a:moveTo>
                    <a:pt x="0" y="0"/>
                  </a:moveTo>
                  <a:lnTo>
                    <a:pt x="635000" y="0"/>
                  </a:lnTo>
                  <a:lnTo>
                    <a:pt x="635000" y="2967"/>
                  </a:lnTo>
                  <a:lnTo>
                    <a:pt x="0" y="2967"/>
                  </a:lnTo>
                  <a:close/>
                </a:path>
              </a:pathLst>
            </a:custGeom>
            <a:solidFill>
              <a:srgbClr val="81C1F4"/>
            </a:solidFill>
          </p:spPr>
        </p:sp>
        <p:sp>
          <p:nvSpPr>
            <p:cNvPr id="8" name="TextBox 8">
              <a:extLst>
                <a:ext uri="{FF2B5EF4-FFF2-40B4-BE49-F238E27FC236}">
                  <a16:creationId xmlns:a16="http://schemas.microsoft.com/office/drawing/2014/main" id="{D2C2500F-106D-5608-1B93-B08E0083B5AA}"/>
                </a:ext>
              </a:extLst>
            </p:cNvPr>
            <p:cNvSpPr txBox="1"/>
            <p:nvPr/>
          </p:nvSpPr>
          <p:spPr>
            <a:xfrm>
              <a:off x="0" y="-38100"/>
              <a:ext cx="635000" cy="41067"/>
            </a:xfrm>
            <a:prstGeom prst="rect">
              <a:avLst/>
            </a:prstGeom>
          </p:spPr>
          <p:txBody>
            <a:bodyPr lIns="50800" tIns="50800" rIns="50800" bIns="50800" rtlCol="0" anchor="ctr"/>
            <a:lstStyle/>
            <a:p>
              <a:pPr marL="0" lvl="0" indent="0" algn="ctr">
                <a:lnSpc>
                  <a:spcPts val="2659"/>
                </a:lnSpc>
              </a:pPr>
              <a:endParaRPr/>
            </a:p>
          </p:txBody>
        </p:sp>
      </p:grpSp>
      <p:sp>
        <p:nvSpPr>
          <p:cNvPr id="12" name="TextBox 12">
            <a:extLst>
              <a:ext uri="{FF2B5EF4-FFF2-40B4-BE49-F238E27FC236}">
                <a16:creationId xmlns:a16="http://schemas.microsoft.com/office/drawing/2014/main" id="{6DC0A78D-5799-8A74-853F-BC4D22B04E06}"/>
              </a:ext>
            </a:extLst>
          </p:cNvPr>
          <p:cNvSpPr txBox="1"/>
          <p:nvPr/>
        </p:nvSpPr>
        <p:spPr>
          <a:xfrm>
            <a:off x="1028700" y="8319678"/>
            <a:ext cx="1071411" cy="1207318"/>
          </a:xfrm>
          <a:prstGeom prst="rect">
            <a:avLst/>
          </a:prstGeom>
        </p:spPr>
        <p:txBody>
          <a:bodyPr lIns="0" tIns="0" rIns="0" bIns="0" rtlCol="0" anchor="t">
            <a:spAutoFit/>
          </a:bodyPr>
          <a:lstStyle/>
          <a:p>
            <a:pPr marL="0" lvl="0" indent="0" algn="l">
              <a:lnSpc>
                <a:spcPts val="9039"/>
              </a:lnSpc>
            </a:pPr>
            <a:r>
              <a:rPr lang="en-US" sz="9515" b="1" dirty="0">
                <a:solidFill>
                  <a:srgbClr val="1C74BB"/>
                </a:solidFill>
                <a:latin typeface="Poppins Bold"/>
                <a:ea typeface="Poppins Bold"/>
                <a:cs typeface="Poppins Bold"/>
                <a:sym typeface="Poppins Bold"/>
              </a:rPr>
              <a:t>9</a:t>
            </a:r>
          </a:p>
        </p:txBody>
      </p:sp>
      <p:sp>
        <p:nvSpPr>
          <p:cNvPr id="13" name="TextBox 13">
            <a:extLst>
              <a:ext uri="{FF2B5EF4-FFF2-40B4-BE49-F238E27FC236}">
                <a16:creationId xmlns:a16="http://schemas.microsoft.com/office/drawing/2014/main" id="{D537A2BF-7465-94FA-B184-4AF12240D4C9}"/>
              </a:ext>
            </a:extLst>
          </p:cNvPr>
          <p:cNvSpPr txBox="1"/>
          <p:nvPr/>
        </p:nvSpPr>
        <p:spPr>
          <a:xfrm>
            <a:off x="2764456" y="4181949"/>
            <a:ext cx="851913" cy="807023"/>
          </a:xfrm>
          <a:prstGeom prst="rect">
            <a:avLst/>
          </a:prstGeom>
        </p:spPr>
        <p:txBody>
          <a:bodyPr lIns="0" tIns="0" rIns="0" bIns="0" rtlCol="0" anchor="t">
            <a:spAutoFit/>
          </a:bodyPr>
          <a:lstStyle/>
          <a:p>
            <a:pPr marL="0" lvl="0" indent="0" algn="l">
              <a:lnSpc>
                <a:spcPts val="5506"/>
              </a:lnSpc>
            </a:pPr>
            <a:endParaRPr/>
          </a:p>
        </p:txBody>
      </p:sp>
      <p:sp>
        <p:nvSpPr>
          <p:cNvPr id="14" name="TextBox 14">
            <a:extLst>
              <a:ext uri="{FF2B5EF4-FFF2-40B4-BE49-F238E27FC236}">
                <a16:creationId xmlns:a16="http://schemas.microsoft.com/office/drawing/2014/main" id="{F5B8B50D-7D68-C4B2-23C2-84879254A6C1}"/>
              </a:ext>
            </a:extLst>
          </p:cNvPr>
          <p:cNvSpPr txBox="1"/>
          <p:nvPr/>
        </p:nvSpPr>
        <p:spPr>
          <a:xfrm>
            <a:off x="2764456" y="5745573"/>
            <a:ext cx="851913" cy="807023"/>
          </a:xfrm>
          <a:prstGeom prst="rect">
            <a:avLst/>
          </a:prstGeom>
        </p:spPr>
        <p:txBody>
          <a:bodyPr lIns="0" tIns="0" rIns="0" bIns="0" rtlCol="0" anchor="t">
            <a:spAutoFit/>
          </a:bodyPr>
          <a:lstStyle/>
          <a:p>
            <a:pPr marL="0" lvl="0" indent="0" algn="l">
              <a:lnSpc>
                <a:spcPts val="5506"/>
              </a:lnSpc>
            </a:pPr>
            <a:endParaRPr/>
          </a:p>
        </p:txBody>
      </p:sp>
      <p:sp>
        <p:nvSpPr>
          <p:cNvPr id="15" name="TextBox 15">
            <a:extLst>
              <a:ext uri="{FF2B5EF4-FFF2-40B4-BE49-F238E27FC236}">
                <a16:creationId xmlns:a16="http://schemas.microsoft.com/office/drawing/2014/main" id="{0C2C8622-88B5-2116-6607-A34CFCDF234F}"/>
              </a:ext>
            </a:extLst>
          </p:cNvPr>
          <p:cNvSpPr txBox="1"/>
          <p:nvPr/>
        </p:nvSpPr>
        <p:spPr>
          <a:xfrm>
            <a:off x="2764456" y="7309197"/>
            <a:ext cx="1580066" cy="807023"/>
          </a:xfrm>
          <a:prstGeom prst="rect">
            <a:avLst/>
          </a:prstGeom>
        </p:spPr>
        <p:txBody>
          <a:bodyPr lIns="0" tIns="0" rIns="0" bIns="0" rtlCol="0" anchor="t">
            <a:spAutoFit/>
          </a:bodyPr>
          <a:lstStyle/>
          <a:p>
            <a:pPr marL="0" lvl="0" indent="0" algn="l">
              <a:lnSpc>
                <a:spcPts val="5506"/>
              </a:lnSpc>
            </a:pPr>
            <a:endParaRPr/>
          </a:p>
        </p:txBody>
      </p:sp>
      <p:pic>
        <p:nvPicPr>
          <p:cNvPr id="19" name="Picture 18">
            <a:extLst>
              <a:ext uri="{FF2B5EF4-FFF2-40B4-BE49-F238E27FC236}">
                <a16:creationId xmlns:a16="http://schemas.microsoft.com/office/drawing/2014/main" id="{411FDBB6-97DA-9B26-52EE-36AFD470A98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019800" y="355554"/>
            <a:ext cx="5630616" cy="8876502"/>
          </a:xfrm>
          <a:prstGeom prst="rect">
            <a:avLst/>
          </a:prstGeom>
        </p:spPr>
      </p:pic>
    </p:spTree>
    <p:extLst>
      <p:ext uri="{BB962C8B-B14F-4D97-AF65-F5344CB8AC3E}">
        <p14:creationId xmlns:p14="http://schemas.microsoft.com/office/powerpoint/2010/main" val="17709404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8F6FF"/>
        </a:solidFill>
        <a:effectLst/>
      </p:bgPr>
    </p:bg>
    <p:spTree>
      <p:nvGrpSpPr>
        <p:cNvPr id="1" name=""/>
        <p:cNvGrpSpPr/>
        <p:nvPr/>
      </p:nvGrpSpPr>
      <p:grpSpPr>
        <a:xfrm>
          <a:off x="0" y="0"/>
          <a:ext cx="0" cy="0"/>
          <a:chOff x="0" y="0"/>
          <a:chExt cx="0" cy="0"/>
        </a:xfrm>
      </p:grpSpPr>
      <p:sp>
        <p:nvSpPr>
          <p:cNvPr id="2" name="Freeform 2"/>
          <p:cNvSpPr/>
          <p:nvPr/>
        </p:nvSpPr>
        <p:spPr>
          <a:xfrm rot="-721374">
            <a:off x="-1084773" y="-3327728"/>
            <a:ext cx="5662001" cy="5721512"/>
          </a:xfrm>
          <a:custGeom>
            <a:avLst/>
            <a:gdLst/>
            <a:ahLst/>
            <a:cxnLst/>
            <a:rect l="l" t="t" r="r" b="b"/>
            <a:pathLst>
              <a:path w="5662001" h="5721512">
                <a:moveTo>
                  <a:pt x="0" y="0"/>
                </a:moveTo>
                <a:lnTo>
                  <a:pt x="5662002" y="0"/>
                </a:lnTo>
                <a:lnTo>
                  <a:pt x="5662002"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715390" y="8128033"/>
            <a:ext cx="1566543" cy="156654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7D8FF"/>
            </a:solidFill>
          </p:spPr>
        </p:sp>
        <p:sp>
          <p:nvSpPr>
            <p:cNvPr id="5" name="TextBox 5"/>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2764456" y="9205812"/>
            <a:ext cx="11234139" cy="52488"/>
            <a:chOff x="0" y="0"/>
            <a:chExt cx="635000" cy="2967"/>
          </a:xfrm>
        </p:grpSpPr>
        <p:sp>
          <p:nvSpPr>
            <p:cNvPr id="7" name="Freeform 7"/>
            <p:cNvSpPr/>
            <p:nvPr/>
          </p:nvSpPr>
          <p:spPr>
            <a:xfrm>
              <a:off x="0" y="0"/>
              <a:ext cx="635000" cy="2967"/>
            </a:xfrm>
            <a:custGeom>
              <a:avLst/>
              <a:gdLst/>
              <a:ahLst/>
              <a:cxnLst/>
              <a:rect l="l" t="t" r="r" b="b"/>
              <a:pathLst>
                <a:path w="635000" h="2967">
                  <a:moveTo>
                    <a:pt x="0" y="0"/>
                  </a:moveTo>
                  <a:lnTo>
                    <a:pt x="635000" y="0"/>
                  </a:lnTo>
                  <a:lnTo>
                    <a:pt x="635000" y="2967"/>
                  </a:lnTo>
                  <a:lnTo>
                    <a:pt x="0" y="2967"/>
                  </a:lnTo>
                  <a:close/>
                </a:path>
              </a:pathLst>
            </a:custGeom>
            <a:solidFill>
              <a:srgbClr val="81C1F4"/>
            </a:solidFill>
          </p:spPr>
        </p:sp>
        <p:sp>
          <p:nvSpPr>
            <p:cNvPr id="8" name="TextBox 8"/>
            <p:cNvSpPr txBox="1"/>
            <p:nvPr/>
          </p:nvSpPr>
          <p:spPr>
            <a:xfrm>
              <a:off x="0" y="-38100"/>
              <a:ext cx="635000" cy="41067"/>
            </a:xfrm>
            <a:prstGeom prst="rect">
              <a:avLst/>
            </a:prstGeom>
          </p:spPr>
          <p:txBody>
            <a:bodyPr lIns="50800" tIns="50800" rIns="50800" bIns="50800" rtlCol="0" anchor="ctr"/>
            <a:lstStyle/>
            <a:p>
              <a:pPr marL="0" lvl="0" indent="0" algn="ctr">
                <a:lnSpc>
                  <a:spcPts val="2659"/>
                </a:lnSpc>
              </a:pPr>
              <a:endParaRPr/>
            </a:p>
          </p:txBody>
        </p:sp>
      </p:grpSp>
      <p:sp>
        <p:nvSpPr>
          <p:cNvPr id="10" name="TextBox 10"/>
          <p:cNvSpPr txBox="1"/>
          <p:nvPr/>
        </p:nvSpPr>
        <p:spPr>
          <a:xfrm>
            <a:off x="2709877" y="2397929"/>
            <a:ext cx="6844519" cy="1178965"/>
          </a:xfrm>
          <a:prstGeom prst="rect">
            <a:avLst/>
          </a:prstGeom>
        </p:spPr>
        <p:txBody>
          <a:bodyPr lIns="0" tIns="0" rIns="0" bIns="0" rtlCol="0" anchor="t">
            <a:spAutoFit/>
          </a:bodyPr>
          <a:lstStyle/>
          <a:p>
            <a:pPr marL="0" lvl="0" indent="0" algn="l">
              <a:lnSpc>
                <a:spcPts val="8181"/>
              </a:lnSpc>
            </a:pPr>
            <a:r>
              <a:rPr lang="en-US" sz="8612" b="1">
                <a:solidFill>
                  <a:srgbClr val="1C74BB"/>
                </a:solidFill>
                <a:latin typeface="Poppins Bold"/>
                <a:ea typeface="Poppins Bold"/>
                <a:cs typeface="Poppins Bold"/>
                <a:sym typeface="Poppins Bold"/>
              </a:rPr>
              <a:t>WORKFLOW</a:t>
            </a:r>
          </a:p>
        </p:txBody>
      </p:sp>
      <p:sp>
        <p:nvSpPr>
          <p:cNvPr id="11" name="TextBox 11"/>
          <p:cNvSpPr txBox="1"/>
          <p:nvPr/>
        </p:nvSpPr>
        <p:spPr>
          <a:xfrm>
            <a:off x="1765905" y="3879986"/>
            <a:ext cx="13016895" cy="3577903"/>
          </a:xfrm>
          <a:prstGeom prst="rect">
            <a:avLst/>
          </a:prstGeom>
        </p:spPr>
        <p:txBody>
          <a:bodyPr wrap="square" lIns="0" tIns="0" rIns="0" bIns="0" rtlCol="0" anchor="t">
            <a:spAutoFit/>
          </a:bodyPr>
          <a:lstStyle/>
          <a:p>
            <a:pPr marL="514350" lvl="0" indent="-514350" algn="just">
              <a:lnSpc>
                <a:spcPts val="3075"/>
              </a:lnSpc>
              <a:buFont typeface="Wingdings" panose="05000000000000000000" pitchFamily="2" charset="2"/>
              <a:buChar char="Ø"/>
            </a:pPr>
            <a:r>
              <a:rPr lang="en-IN" sz="2900" b="1" dirty="0">
                <a:solidFill>
                  <a:srgbClr val="0070C0"/>
                </a:solidFill>
              </a:rPr>
              <a:t>Load Student Dataset</a:t>
            </a:r>
            <a:r>
              <a:rPr lang="en-IN" sz="2900" dirty="0">
                <a:solidFill>
                  <a:srgbClr val="0070C0"/>
                </a:solidFill>
              </a:rPr>
              <a:t> – Import student records (marks, attendance, study hours, etc.). </a:t>
            </a:r>
            <a:r>
              <a:rPr lang="en-IN" sz="2900" b="1" dirty="0">
                <a:solidFill>
                  <a:srgbClr val="0070C0"/>
                </a:solidFill>
              </a:rPr>
              <a:t>Data Preprocessing</a:t>
            </a:r>
            <a:r>
              <a:rPr lang="en-IN" sz="2900" dirty="0">
                <a:solidFill>
                  <a:srgbClr val="0070C0"/>
                </a:solidFill>
              </a:rPr>
              <a:t> – Clean, encode, and scale the data.</a:t>
            </a:r>
          </a:p>
          <a:p>
            <a:pPr marL="514350" lvl="0" indent="-514350" algn="just">
              <a:lnSpc>
                <a:spcPts val="3075"/>
              </a:lnSpc>
              <a:buFont typeface="Wingdings" panose="05000000000000000000" pitchFamily="2" charset="2"/>
              <a:buChar char="Ø"/>
            </a:pPr>
            <a:r>
              <a:rPr lang="en-IN" sz="2900" b="1" dirty="0">
                <a:solidFill>
                  <a:srgbClr val="0070C0"/>
                </a:solidFill>
              </a:rPr>
              <a:t>Train ML Models</a:t>
            </a:r>
            <a:r>
              <a:rPr lang="en-IN" sz="2900" dirty="0">
                <a:solidFill>
                  <a:srgbClr val="0070C0"/>
                </a:solidFill>
              </a:rPr>
              <a:t> – Train Logistic Regression, Decision Tree, Random Forest, SVM, and KNN models.</a:t>
            </a:r>
          </a:p>
          <a:p>
            <a:pPr marL="514350" lvl="0" indent="-514350" algn="just">
              <a:lnSpc>
                <a:spcPts val="3075"/>
              </a:lnSpc>
              <a:buFont typeface="Wingdings" panose="05000000000000000000" pitchFamily="2" charset="2"/>
              <a:buChar char="Ø"/>
            </a:pPr>
            <a:r>
              <a:rPr lang="en-IN" sz="2900" dirty="0">
                <a:solidFill>
                  <a:srgbClr val="0070C0"/>
                </a:solidFill>
              </a:rPr>
              <a:t> </a:t>
            </a:r>
            <a:r>
              <a:rPr lang="en-IN" sz="2900" b="1" dirty="0">
                <a:solidFill>
                  <a:srgbClr val="0070C0"/>
                </a:solidFill>
              </a:rPr>
              <a:t>Evaluate Models</a:t>
            </a:r>
            <a:r>
              <a:rPr lang="en-IN" sz="2900" dirty="0">
                <a:solidFill>
                  <a:srgbClr val="0070C0"/>
                </a:solidFill>
              </a:rPr>
              <a:t> – Compare model performance and select the best model. </a:t>
            </a:r>
            <a:r>
              <a:rPr lang="en-IN" sz="2900" b="1" dirty="0">
                <a:solidFill>
                  <a:srgbClr val="0070C0"/>
                </a:solidFill>
              </a:rPr>
              <a:t>Predict Performance</a:t>
            </a:r>
            <a:r>
              <a:rPr lang="en-IN" sz="2900" dirty="0">
                <a:solidFill>
                  <a:srgbClr val="0070C0"/>
                </a:solidFill>
              </a:rPr>
              <a:t> – Predict whether a student will </a:t>
            </a:r>
            <a:r>
              <a:rPr lang="en-IN" sz="2900" b="1" dirty="0">
                <a:solidFill>
                  <a:srgbClr val="0070C0"/>
                </a:solidFill>
              </a:rPr>
              <a:t>Pass</a:t>
            </a:r>
            <a:r>
              <a:rPr lang="en-IN" sz="2900" dirty="0">
                <a:solidFill>
                  <a:srgbClr val="0070C0"/>
                </a:solidFill>
              </a:rPr>
              <a:t> or </a:t>
            </a:r>
            <a:r>
              <a:rPr lang="en-IN" sz="2900" b="1" dirty="0">
                <a:solidFill>
                  <a:srgbClr val="0070C0"/>
                </a:solidFill>
              </a:rPr>
              <a:t>Fail</a:t>
            </a:r>
            <a:r>
              <a:rPr lang="en-IN" sz="2900" dirty="0">
                <a:solidFill>
                  <a:srgbClr val="0070C0"/>
                </a:solidFill>
              </a:rPr>
              <a:t>. </a:t>
            </a:r>
          </a:p>
          <a:p>
            <a:pPr marL="514350" lvl="0" indent="-514350" algn="just">
              <a:lnSpc>
                <a:spcPts val="3075"/>
              </a:lnSpc>
              <a:buFont typeface="Wingdings" panose="05000000000000000000" pitchFamily="2" charset="2"/>
              <a:buChar char="Ø"/>
            </a:pPr>
            <a:r>
              <a:rPr lang="en-IN" sz="2900" b="1" dirty="0" err="1">
                <a:solidFill>
                  <a:srgbClr val="0070C0"/>
                </a:solidFill>
              </a:rPr>
              <a:t>Analyze</a:t>
            </a:r>
            <a:r>
              <a:rPr lang="en-IN" sz="2900" b="1" dirty="0">
                <a:solidFill>
                  <a:srgbClr val="0070C0"/>
                </a:solidFill>
              </a:rPr>
              <a:t> Results</a:t>
            </a:r>
            <a:r>
              <a:rPr lang="en-IN" sz="2900" dirty="0">
                <a:solidFill>
                  <a:srgbClr val="0070C0"/>
                </a:solidFill>
              </a:rPr>
              <a:t> – Identify student performance trends and weak areas. </a:t>
            </a:r>
          </a:p>
          <a:p>
            <a:pPr marL="514350" lvl="0" indent="-514350" algn="just">
              <a:lnSpc>
                <a:spcPts val="3075"/>
              </a:lnSpc>
              <a:buFont typeface="Wingdings" panose="05000000000000000000" pitchFamily="2" charset="2"/>
              <a:buChar char="Ø"/>
            </a:pPr>
            <a:r>
              <a:rPr lang="en-IN" sz="2900" b="1" dirty="0">
                <a:solidFill>
                  <a:srgbClr val="0070C0"/>
                </a:solidFill>
              </a:rPr>
              <a:t>Visualize &amp; Generate Reports</a:t>
            </a:r>
            <a:r>
              <a:rPr lang="en-IN" sz="2900" dirty="0">
                <a:solidFill>
                  <a:srgbClr val="0070C0"/>
                </a:solidFill>
              </a:rPr>
              <a:t> – Display results using graphs, charts, and performance reports.</a:t>
            </a:r>
            <a:endParaRPr lang="en-US" sz="2900" dirty="0">
              <a:solidFill>
                <a:srgbClr val="0070C0"/>
              </a:solidFill>
              <a:latin typeface="Poppins"/>
              <a:ea typeface="Poppins"/>
              <a:cs typeface="Poppins"/>
              <a:sym typeface="Poppins"/>
            </a:endParaRPr>
          </a:p>
        </p:txBody>
      </p:sp>
      <p:sp>
        <p:nvSpPr>
          <p:cNvPr id="12" name="TextBox 12"/>
          <p:cNvSpPr txBox="1"/>
          <p:nvPr/>
        </p:nvSpPr>
        <p:spPr>
          <a:xfrm>
            <a:off x="1028700" y="8319678"/>
            <a:ext cx="1400096" cy="1207318"/>
          </a:xfrm>
          <a:prstGeom prst="rect">
            <a:avLst/>
          </a:prstGeom>
        </p:spPr>
        <p:txBody>
          <a:bodyPr wrap="square" lIns="0" tIns="0" rIns="0" bIns="0" rtlCol="0" anchor="t">
            <a:spAutoFit/>
          </a:bodyPr>
          <a:lstStyle/>
          <a:p>
            <a:pPr marL="0" lvl="0" indent="0" algn="l">
              <a:lnSpc>
                <a:spcPts val="9039"/>
              </a:lnSpc>
            </a:pPr>
            <a:r>
              <a:rPr lang="en-US" sz="9515" b="1" dirty="0">
                <a:solidFill>
                  <a:srgbClr val="1C74BB"/>
                </a:solidFill>
                <a:latin typeface="Poppins Bold"/>
                <a:ea typeface="Poppins Bold"/>
                <a:cs typeface="Poppins Bold"/>
                <a:sym typeface="Poppins Bold"/>
              </a:rPr>
              <a:t>10</a:t>
            </a:r>
          </a:p>
        </p:txBody>
      </p:sp>
      <p:sp>
        <p:nvSpPr>
          <p:cNvPr id="13" name="TextBox 13"/>
          <p:cNvSpPr txBox="1"/>
          <p:nvPr/>
        </p:nvSpPr>
        <p:spPr>
          <a:xfrm>
            <a:off x="2764456" y="4181949"/>
            <a:ext cx="851913" cy="807023"/>
          </a:xfrm>
          <a:prstGeom prst="rect">
            <a:avLst/>
          </a:prstGeom>
        </p:spPr>
        <p:txBody>
          <a:bodyPr lIns="0" tIns="0" rIns="0" bIns="0" rtlCol="0" anchor="t">
            <a:spAutoFit/>
          </a:bodyPr>
          <a:lstStyle/>
          <a:p>
            <a:pPr marL="0" lvl="0" indent="0" algn="l">
              <a:lnSpc>
                <a:spcPts val="5506"/>
              </a:lnSpc>
            </a:pPr>
            <a:endParaRPr/>
          </a:p>
        </p:txBody>
      </p:sp>
      <p:sp>
        <p:nvSpPr>
          <p:cNvPr id="14" name="TextBox 14"/>
          <p:cNvSpPr txBox="1"/>
          <p:nvPr/>
        </p:nvSpPr>
        <p:spPr>
          <a:xfrm>
            <a:off x="2764456" y="5745573"/>
            <a:ext cx="851913" cy="807023"/>
          </a:xfrm>
          <a:prstGeom prst="rect">
            <a:avLst/>
          </a:prstGeom>
        </p:spPr>
        <p:txBody>
          <a:bodyPr lIns="0" tIns="0" rIns="0" bIns="0" rtlCol="0" anchor="t">
            <a:spAutoFit/>
          </a:bodyPr>
          <a:lstStyle/>
          <a:p>
            <a:pPr marL="0" lvl="0" indent="0" algn="l">
              <a:lnSpc>
                <a:spcPts val="5506"/>
              </a:lnSpc>
            </a:pPr>
            <a:endParaRPr/>
          </a:p>
        </p:txBody>
      </p:sp>
      <p:sp>
        <p:nvSpPr>
          <p:cNvPr id="15" name="TextBox 15"/>
          <p:cNvSpPr txBox="1"/>
          <p:nvPr/>
        </p:nvSpPr>
        <p:spPr>
          <a:xfrm>
            <a:off x="2764456" y="7309197"/>
            <a:ext cx="1580066" cy="807023"/>
          </a:xfrm>
          <a:prstGeom prst="rect">
            <a:avLst/>
          </a:prstGeom>
        </p:spPr>
        <p:txBody>
          <a:bodyPr lIns="0" tIns="0" rIns="0" bIns="0" rtlCol="0" anchor="t">
            <a:spAutoFit/>
          </a:bodyPr>
          <a:lstStyle/>
          <a:p>
            <a:pPr marL="0" lvl="0" indent="0" algn="l">
              <a:lnSpc>
                <a:spcPts val="5506"/>
              </a:lnSpc>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8F6FF"/>
        </a:solidFill>
        <a:effectLst/>
      </p:bgPr>
    </p:bg>
    <p:spTree>
      <p:nvGrpSpPr>
        <p:cNvPr id="1" name="">
          <a:extLst>
            <a:ext uri="{FF2B5EF4-FFF2-40B4-BE49-F238E27FC236}">
              <a16:creationId xmlns:a16="http://schemas.microsoft.com/office/drawing/2014/main" id="{DBC42B5A-39FF-F5F0-1A8A-1F239F5BFA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E809DDC-14B5-7B79-DD5C-EFA041A00758}"/>
              </a:ext>
            </a:extLst>
          </p:cNvPr>
          <p:cNvSpPr/>
          <p:nvPr/>
        </p:nvSpPr>
        <p:spPr>
          <a:xfrm rot="-721374">
            <a:off x="-1084773" y="-3327728"/>
            <a:ext cx="5662001" cy="5721512"/>
          </a:xfrm>
          <a:custGeom>
            <a:avLst/>
            <a:gdLst/>
            <a:ahLst/>
            <a:cxnLst/>
            <a:rect l="l" t="t" r="r" b="b"/>
            <a:pathLst>
              <a:path w="5662001" h="5721512">
                <a:moveTo>
                  <a:pt x="0" y="0"/>
                </a:moveTo>
                <a:lnTo>
                  <a:pt x="5662002" y="0"/>
                </a:lnTo>
                <a:lnTo>
                  <a:pt x="5662002"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a:extLst>
              <a:ext uri="{FF2B5EF4-FFF2-40B4-BE49-F238E27FC236}">
                <a16:creationId xmlns:a16="http://schemas.microsoft.com/office/drawing/2014/main" id="{05E902EC-E3F9-FD38-3D1A-94265F6D44AF}"/>
              </a:ext>
            </a:extLst>
          </p:cNvPr>
          <p:cNvGrpSpPr/>
          <p:nvPr/>
        </p:nvGrpSpPr>
        <p:grpSpPr>
          <a:xfrm>
            <a:off x="715390" y="8053539"/>
            <a:ext cx="1566543" cy="1566543"/>
            <a:chOff x="0" y="0"/>
            <a:chExt cx="812800" cy="812800"/>
          </a:xfrm>
        </p:grpSpPr>
        <p:sp>
          <p:nvSpPr>
            <p:cNvPr id="4" name="Freeform 4">
              <a:extLst>
                <a:ext uri="{FF2B5EF4-FFF2-40B4-BE49-F238E27FC236}">
                  <a16:creationId xmlns:a16="http://schemas.microsoft.com/office/drawing/2014/main" id="{EC55F0EA-A127-676B-F792-6FC9CDBA132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7D8FF"/>
            </a:solidFill>
          </p:spPr>
        </p:sp>
        <p:sp>
          <p:nvSpPr>
            <p:cNvPr id="5" name="TextBox 5">
              <a:extLst>
                <a:ext uri="{FF2B5EF4-FFF2-40B4-BE49-F238E27FC236}">
                  <a16:creationId xmlns:a16="http://schemas.microsoft.com/office/drawing/2014/main" id="{3AFA8EF6-3FEA-D847-219B-395F9762F643}"/>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a:extLst>
              <a:ext uri="{FF2B5EF4-FFF2-40B4-BE49-F238E27FC236}">
                <a16:creationId xmlns:a16="http://schemas.microsoft.com/office/drawing/2014/main" id="{038D2480-05E0-400C-4B3F-F8194A5F1B7E}"/>
              </a:ext>
            </a:extLst>
          </p:cNvPr>
          <p:cNvGrpSpPr/>
          <p:nvPr/>
        </p:nvGrpSpPr>
        <p:grpSpPr>
          <a:xfrm>
            <a:off x="2764456" y="9205812"/>
            <a:ext cx="11234139" cy="52488"/>
            <a:chOff x="0" y="0"/>
            <a:chExt cx="635000" cy="2967"/>
          </a:xfrm>
        </p:grpSpPr>
        <p:sp>
          <p:nvSpPr>
            <p:cNvPr id="7" name="Freeform 7">
              <a:extLst>
                <a:ext uri="{FF2B5EF4-FFF2-40B4-BE49-F238E27FC236}">
                  <a16:creationId xmlns:a16="http://schemas.microsoft.com/office/drawing/2014/main" id="{3C38FB94-5E78-DCCE-2158-079B09DC29A5}"/>
                </a:ext>
              </a:extLst>
            </p:cNvPr>
            <p:cNvSpPr/>
            <p:nvPr/>
          </p:nvSpPr>
          <p:spPr>
            <a:xfrm>
              <a:off x="0" y="0"/>
              <a:ext cx="635000" cy="2967"/>
            </a:xfrm>
            <a:custGeom>
              <a:avLst/>
              <a:gdLst/>
              <a:ahLst/>
              <a:cxnLst/>
              <a:rect l="l" t="t" r="r" b="b"/>
              <a:pathLst>
                <a:path w="635000" h="2967">
                  <a:moveTo>
                    <a:pt x="0" y="0"/>
                  </a:moveTo>
                  <a:lnTo>
                    <a:pt x="635000" y="0"/>
                  </a:lnTo>
                  <a:lnTo>
                    <a:pt x="635000" y="2967"/>
                  </a:lnTo>
                  <a:lnTo>
                    <a:pt x="0" y="2967"/>
                  </a:lnTo>
                  <a:close/>
                </a:path>
              </a:pathLst>
            </a:custGeom>
            <a:solidFill>
              <a:srgbClr val="81C1F4"/>
            </a:solidFill>
          </p:spPr>
        </p:sp>
        <p:sp>
          <p:nvSpPr>
            <p:cNvPr id="8" name="TextBox 8">
              <a:extLst>
                <a:ext uri="{FF2B5EF4-FFF2-40B4-BE49-F238E27FC236}">
                  <a16:creationId xmlns:a16="http://schemas.microsoft.com/office/drawing/2014/main" id="{1FA3C2DD-A108-0325-7D00-844F33255DF0}"/>
                </a:ext>
              </a:extLst>
            </p:cNvPr>
            <p:cNvSpPr txBox="1"/>
            <p:nvPr/>
          </p:nvSpPr>
          <p:spPr>
            <a:xfrm>
              <a:off x="0" y="-38100"/>
              <a:ext cx="635000" cy="41067"/>
            </a:xfrm>
            <a:prstGeom prst="rect">
              <a:avLst/>
            </a:prstGeom>
          </p:spPr>
          <p:txBody>
            <a:bodyPr lIns="50800" tIns="50800" rIns="50800" bIns="50800" rtlCol="0" anchor="ctr"/>
            <a:lstStyle/>
            <a:p>
              <a:pPr marL="0" lvl="0" indent="0" algn="ctr">
                <a:lnSpc>
                  <a:spcPts val="2659"/>
                </a:lnSpc>
              </a:pPr>
              <a:endParaRPr/>
            </a:p>
          </p:txBody>
        </p:sp>
      </p:grpSp>
      <p:sp>
        <p:nvSpPr>
          <p:cNvPr id="12" name="TextBox 12">
            <a:extLst>
              <a:ext uri="{FF2B5EF4-FFF2-40B4-BE49-F238E27FC236}">
                <a16:creationId xmlns:a16="http://schemas.microsoft.com/office/drawing/2014/main" id="{AE22FB9E-8FFA-65B0-69E7-0CD6092F8286}"/>
              </a:ext>
            </a:extLst>
          </p:cNvPr>
          <p:cNvSpPr txBox="1"/>
          <p:nvPr/>
        </p:nvSpPr>
        <p:spPr>
          <a:xfrm>
            <a:off x="1028700" y="8245184"/>
            <a:ext cx="1071411" cy="1207318"/>
          </a:xfrm>
          <a:prstGeom prst="rect">
            <a:avLst/>
          </a:prstGeom>
        </p:spPr>
        <p:txBody>
          <a:bodyPr lIns="0" tIns="0" rIns="0" bIns="0" rtlCol="0" anchor="t">
            <a:spAutoFit/>
          </a:bodyPr>
          <a:lstStyle/>
          <a:p>
            <a:pPr marL="0" lvl="0" indent="0" algn="l">
              <a:lnSpc>
                <a:spcPts val="9039"/>
              </a:lnSpc>
            </a:pPr>
            <a:r>
              <a:rPr lang="en-US" sz="9515" b="1" dirty="0">
                <a:solidFill>
                  <a:srgbClr val="1C74BB"/>
                </a:solidFill>
                <a:latin typeface="Poppins Bold"/>
                <a:ea typeface="Poppins Bold"/>
                <a:cs typeface="Poppins Bold"/>
                <a:sym typeface="Poppins Bold"/>
              </a:rPr>
              <a:t>11</a:t>
            </a:r>
          </a:p>
        </p:txBody>
      </p:sp>
      <p:sp>
        <p:nvSpPr>
          <p:cNvPr id="13" name="TextBox 13">
            <a:extLst>
              <a:ext uri="{FF2B5EF4-FFF2-40B4-BE49-F238E27FC236}">
                <a16:creationId xmlns:a16="http://schemas.microsoft.com/office/drawing/2014/main" id="{033CFDED-FB51-7424-66FC-2119FF059E67}"/>
              </a:ext>
            </a:extLst>
          </p:cNvPr>
          <p:cNvSpPr txBox="1"/>
          <p:nvPr/>
        </p:nvSpPr>
        <p:spPr>
          <a:xfrm>
            <a:off x="2764456" y="4181949"/>
            <a:ext cx="851913" cy="807023"/>
          </a:xfrm>
          <a:prstGeom prst="rect">
            <a:avLst/>
          </a:prstGeom>
        </p:spPr>
        <p:txBody>
          <a:bodyPr lIns="0" tIns="0" rIns="0" bIns="0" rtlCol="0" anchor="t">
            <a:spAutoFit/>
          </a:bodyPr>
          <a:lstStyle/>
          <a:p>
            <a:pPr marL="0" lvl="0" indent="0" algn="l">
              <a:lnSpc>
                <a:spcPts val="5506"/>
              </a:lnSpc>
            </a:pPr>
            <a:endParaRPr/>
          </a:p>
        </p:txBody>
      </p:sp>
      <p:sp>
        <p:nvSpPr>
          <p:cNvPr id="14" name="TextBox 14">
            <a:extLst>
              <a:ext uri="{FF2B5EF4-FFF2-40B4-BE49-F238E27FC236}">
                <a16:creationId xmlns:a16="http://schemas.microsoft.com/office/drawing/2014/main" id="{D9537178-DAE2-9AC8-96B3-5035436CE9C5}"/>
              </a:ext>
            </a:extLst>
          </p:cNvPr>
          <p:cNvSpPr txBox="1"/>
          <p:nvPr/>
        </p:nvSpPr>
        <p:spPr>
          <a:xfrm>
            <a:off x="2764456" y="5745573"/>
            <a:ext cx="851913" cy="807023"/>
          </a:xfrm>
          <a:prstGeom prst="rect">
            <a:avLst/>
          </a:prstGeom>
        </p:spPr>
        <p:txBody>
          <a:bodyPr lIns="0" tIns="0" rIns="0" bIns="0" rtlCol="0" anchor="t">
            <a:spAutoFit/>
          </a:bodyPr>
          <a:lstStyle/>
          <a:p>
            <a:pPr marL="0" lvl="0" indent="0" algn="l">
              <a:lnSpc>
                <a:spcPts val="5506"/>
              </a:lnSpc>
            </a:pPr>
            <a:endParaRPr/>
          </a:p>
        </p:txBody>
      </p:sp>
      <p:sp>
        <p:nvSpPr>
          <p:cNvPr id="15" name="TextBox 15">
            <a:extLst>
              <a:ext uri="{FF2B5EF4-FFF2-40B4-BE49-F238E27FC236}">
                <a16:creationId xmlns:a16="http://schemas.microsoft.com/office/drawing/2014/main" id="{8C67E82C-1DCB-6316-01A8-40F722DBABE5}"/>
              </a:ext>
            </a:extLst>
          </p:cNvPr>
          <p:cNvSpPr txBox="1"/>
          <p:nvPr/>
        </p:nvSpPr>
        <p:spPr>
          <a:xfrm>
            <a:off x="2764456" y="7309197"/>
            <a:ext cx="1580066" cy="807023"/>
          </a:xfrm>
          <a:prstGeom prst="rect">
            <a:avLst/>
          </a:prstGeom>
        </p:spPr>
        <p:txBody>
          <a:bodyPr lIns="0" tIns="0" rIns="0" bIns="0" rtlCol="0" anchor="t">
            <a:spAutoFit/>
          </a:bodyPr>
          <a:lstStyle/>
          <a:p>
            <a:pPr marL="0" lvl="0" indent="0" algn="l">
              <a:lnSpc>
                <a:spcPts val="5506"/>
              </a:lnSpc>
            </a:pPr>
            <a:endParaRPr/>
          </a:p>
        </p:txBody>
      </p:sp>
      <p:pic>
        <p:nvPicPr>
          <p:cNvPr id="18" name="Picture 17">
            <a:extLst>
              <a:ext uri="{FF2B5EF4-FFF2-40B4-BE49-F238E27FC236}">
                <a16:creationId xmlns:a16="http://schemas.microsoft.com/office/drawing/2014/main" id="{8D28D95A-ADE9-0FBE-1224-2DE04C24E3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0487" y="108137"/>
            <a:ext cx="5807026" cy="9071865"/>
          </a:xfrm>
          <a:prstGeom prst="rect">
            <a:avLst/>
          </a:prstGeom>
        </p:spPr>
      </p:pic>
    </p:spTree>
    <p:extLst>
      <p:ext uri="{BB962C8B-B14F-4D97-AF65-F5344CB8AC3E}">
        <p14:creationId xmlns:p14="http://schemas.microsoft.com/office/powerpoint/2010/main" val="31852388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8F6FF"/>
        </a:solidFill>
        <a:effectLst/>
      </p:bgPr>
    </p:bg>
    <p:spTree>
      <p:nvGrpSpPr>
        <p:cNvPr id="1" name=""/>
        <p:cNvGrpSpPr/>
        <p:nvPr/>
      </p:nvGrpSpPr>
      <p:grpSpPr>
        <a:xfrm>
          <a:off x="0" y="0"/>
          <a:ext cx="0" cy="0"/>
          <a:chOff x="0" y="0"/>
          <a:chExt cx="0" cy="0"/>
        </a:xfrm>
      </p:grpSpPr>
      <p:sp>
        <p:nvSpPr>
          <p:cNvPr id="2" name="Freeform 2"/>
          <p:cNvSpPr/>
          <p:nvPr/>
        </p:nvSpPr>
        <p:spPr>
          <a:xfrm rot="-721374">
            <a:off x="-1084773" y="-3327728"/>
            <a:ext cx="5662001" cy="5721512"/>
          </a:xfrm>
          <a:custGeom>
            <a:avLst/>
            <a:gdLst/>
            <a:ahLst/>
            <a:cxnLst/>
            <a:rect l="l" t="t" r="r" b="b"/>
            <a:pathLst>
              <a:path w="5662001" h="5721512">
                <a:moveTo>
                  <a:pt x="0" y="0"/>
                </a:moveTo>
                <a:lnTo>
                  <a:pt x="5662002" y="0"/>
                </a:lnTo>
                <a:lnTo>
                  <a:pt x="5662002"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5797012" y="264582"/>
            <a:ext cx="7505581" cy="1422312"/>
          </a:xfrm>
          <a:prstGeom prst="rect">
            <a:avLst/>
          </a:prstGeom>
        </p:spPr>
        <p:txBody>
          <a:bodyPr lIns="0" tIns="0" rIns="0" bIns="0" rtlCol="0" anchor="t">
            <a:spAutoFit/>
          </a:bodyPr>
          <a:lstStyle/>
          <a:p>
            <a:pPr algn="ctr">
              <a:lnSpc>
                <a:spcPts val="12053"/>
              </a:lnSpc>
              <a:spcBef>
                <a:spcPct val="0"/>
              </a:spcBef>
            </a:pPr>
            <a:r>
              <a:rPr lang="en-US" sz="7200" b="1" dirty="0">
                <a:solidFill>
                  <a:srgbClr val="1C74BB"/>
                </a:solidFill>
                <a:latin typeface="Poppins Bold"/>
                <a:ea typeface="Poppins Bold"/>
                <a:cs typeface="Poppins Bold"/>
                <a:sym typeface="Poppins Bold"/>
              </a:rPr>
              <a:t>MODELS USED</a:t>
            </a:r>
          </a:p>
        </p:txBody>
      </p:sp>
      <p:sp>
        <p:nvSpPr>
          <p:cNvPr id="4" name="TextBox 4"/>
          <p:cNvSpPr txBox="1"/>
          <p:nvPr/>
        </p:nvSpPr>
        <p:spPr>
          <a:xfrm>
            <a:off x="1705310" y="1813491"/>
            <a:ext cx="16339147" cy="7588027"/>
          </a:xfrm>
          <a:prstGeom prst="rect">
            <a:avLst/>
          </a:prstGeom>
        </p:spPr>
        <p:txBody>
          <a:bodyPr lIns="0" tIns="0" rIns="0" bIns="0" rtlCol="0" anchor="t">
            <a:spAutoFit/>
          </a:bodyPr>
          <a:lstStyle/>
          <a:p>
            <a:pPr algn="l">
              <a:lnSpc>
                <a:spcPts val="3976"/>
              </a:lnSpc>
            </a:pPr>
            <a:r>
              <a:rPr lang="en-US" sz="2840" b="1" dirty="0">
                <a:solidFill>
                  <a:srgbClr val="1C74BB"/>
                </a:solidFill>
                <a:latin typeface="Poppins Bold"/>
                <a:ea typeface="Poppins Bold"/>
                <a:cs typeface="Poppins Bold"/>
                <a:sym typeface="Poppins Bold"/>
              </a:rPr>
              <a:t>Logistic Regression</a:t>
            </a:r>
            <a:r>
              <a:rPr lang="en-US" sz="2840" dirty="0">
                <a:solidFill>
                  <a:srgbClr val="1C74BB"/>
                </a:solidFill>
                <a:latin typeface="Poppins"/>
                <a:ea typeface="Poppins"/>
                <a:cs typeface="Poppins"/>
                <a:sym typeface="Poppins"/>
              </a:rPr>
              <a:t> </a:t>
            </a:r>
          </a:p>
          <a:p>
            <a:pPr algn="l">
              <a:lnSpc>
                <a:spcPts val="3976"/>
              </a:lnSpc>
            </a:pPr>
            <a:r>
              <a:rPr lang="en-US" sz="2840" dirty="0">
                <a:solidFill>
                  <a:srgbClr val="1C74BB"/>
                </a:solidFill>
                <a:latin typeface="Poppins"/>
                <a:ea typeface="Poppins"/>
                <a:cs typeface="Poppins"/>
                <a:sym typeface="Poppins"/>
              </a:rPr>
              <a:t>  Used for binary classification to predict pass/fail based on linear relationships. </a:t>
            </a:r>
          </a:p>
          <a:p>
            <a:pPr algn="l">
              <a:lnSpc>
                <a:spcPts val="3976"/>
              </a:lnSpc>
            </a:pPr>
            <a:endParaRPr lang="en-US" sz="2840" dirty="0">
              <a:solidFill>
                <a:srgbClr val="1C74BB"/>
              </a:solidFill>
              <a:latin typeface="Poppins"/>
              <a:ea typeface="Poppins"/>
              <a:cs typeface="Poppins"/>
              <a:sym typeface="Poppins"/>
            </a:endParaRPr>
          </a:p>
          <a:p>
            <a:pPr algn="l">
              <a:lnSpc>
                <a:spcPts val="3976"/>
              </a:lnSpc>
            </a:pPr>
            <a:r>
              <a:rPr lang="en-US" sz="2840" b="1" dirty="0">
                <a:solidFill>
                  <a:srgbClr val="1C74BB"/>
                </a:solidFill>
                <a:latin typeface="Poppins Bold"/>
                <a:ea typeface="Poppins Bold"/>
                <a:cs typeface="Poppins Bold"/>
                <a:sym typeface="Poppins Bold"/>
              </a:rPr>
              <a:t>Decision Tree</a:t>
            </a:r>
            <a:r>
              <a:rPr lang="en-US" sz="2840" dirty="0">
                <a:solidFill>
                  <a:srgbClr val="1C74BB"/>
                </a:solidFill>
                <a:latin typeface="Poppins"/>
                <a:ea typeface="Poppins"/>
                <a:cs typeface="Poppins"/>
                <a:sym typeface="Poppins"/>
              </a:rPr>
              <a:t> </a:t>
            </a:r>
          </a:p>
          <a:p>
            <a:pPr algn="l">
              <a:lnSpc>
                <a:spcPts val="3976"/>
              </a:lnSpc>
            </a:pPr>
            <a:r>
              <a:rPr lang="en-US" sz="2840" dirty="0">
                <a:solidFill>
                  <a:srgbClr val="1C74BB"/>
                </a:solidFill>
                <a:latin typeface="Poppins"/>
                <a:ea typeface="Poppins"/>
                <a:cs typeface="Poppins"/>
                <a:sym typeface="Poppins"/>
              </a:rPr>
              <a:t>  Used to model decisions through tree-like splits capturing non-linear patterns.</a:t>
            </a:r>
          </a:p>
          <a:p>
            <a:pPr algn="l">
              <a:lnSpc>
                <a:spcPts val="3976"/>
              </a:lnSpc>
            </a:pPr>
            <a:r>
              <a:rPr lang="en-US" sz="2840" dirty="0">
                <a:solidFill>
                  <a:srgbClr val="1C74BB"/>
                </a:solidFill>
                <a:latin typeface="Poppins"/>
                <a:ea typeface="Poppins"/>
                <a:cs typeface="Poppins"/>
                <a:sym typeface="Poppins"/>
              </a:rPr>
              <a:t> </a:t>
            </a:r>
          </a:p>
          <a:p>
            <a:pPr algn="l">
              <a:lnSpc>
                <a:spcPts val="3976"/>
              </a:lnSpc>
            </a:pPr>
            <a:r>
              <a:rPr lang="en-US" sz="2840" b="1" dirty="0">
                <a:solidFill>
                  <a:srgbClr val="1C74BB"/>
                </a:solidFill>
                <a:latin typeface="Poppins Bold"/>
                <a:ea typeface="Poppins Bold"/>
                <a:cs typeface="Poppins Bold"/>
                <a:sym typeface="Poppins Bold"/>
              </a:rPr>
              <a:t>Random Forest</a:t>
            </a:r>
            <a:r>
              <a:rPr lang="en-US" sz="2840" dirty="0">
                <a:solidFill>
                  <a:srgbClr val="1C74BB"/>
                </a:solidFill>
                <a:latin typeface="Poppins"/>
                <a:ea typeface="Poppins"/>
                <a:cs typeface="Poppins"/>
                <a:sym typeface="Poppins"/>
              </a:rPr>
              <a:t> </a:t>
            </a:r>
          </a:p>
          <a:p>
            <a:pPr algn="l">
              <a:lnSpc>
                <a:spcPts val="3976"/>
              </a:lnSpc>
            </a:pPr>
            <a:r>
              <a:rPr lang="en-US" sz="2840" dirty="0">
                <a:solidFill>
                  <a:srgbClr val="1C74BB"/>
                </a:solidFill>
                <a:latin typeface="Poppins"/>
                <a:ea typeface="Poppins"/>
                <a:cs typeface="Poppins"/>
                <a:sym typeface="Poppins"/>
              </a:rPr>
              <a:t>  Used to improve accuracy by combining multiple decision trees and reducing overfitting. </a:t>
            </a:r>
          </a:p>
          <a:p>
            <a:pPr algn="l">
              <a:lnSpc>
                <a:spcPts val="3976"/>
              </a:lnSpc>
            </a:pPr>
            <a:endParaRPr lang="en-US" sz="2840" dirty="0">
              <a:solidFill>
                <a:srgbClr val="1C74BB"/>
              </a:solidFill>
              <a:latin typeface="Poppins"/>
              <a:ea typeface="Poppins"/>
              <a:cs typeface="Poppins"/>
              <a:sym typeface="Poppins"/>
            </a:endParaRPr>
          </a:p>
          <a:p>
            <a:pPr algn="l">
              <a:lnSpc>
                <a:spcPts val="3976"/>
              </a:lnSpc>
            </a:pPr>
            <a:r>
              <a:rPr lang="en-US" sz="2840" b="1" dirty="0">
                <a:solidFill>
                  <a:srgbClr val="1C74BB"/>
                </a:solidFill>
                <a:latin typeface="Poppins Bold"/>
                <a:ea typeface="Poppins Bold"/>
                <a:cs typeface="Poppins Bold"/>
                <a:sym typeface="Poppins Bold"/>
              </a:rPr>
              <a:t>SVM (Support Vector Machine)</a:t>
            </a:r>
          </a:p>
          <a:p>
            <a:pPr algn="l">
              <a:lnSpc>
                <a:spcPts val="3976"/>
              </a:lnSpc>
            </a:pPr>
            <a:r>
              <a:rPr lang="en-US" sz="2840" b="1" dirty="0">
                <a:solidFill>
                  <a:srgbClr val="1C74BB"/>
                </a:solidFill>
                <a:latin typeface="Poppins Bold"/>
                <a:ea typeface="Poppins Bold"/>
                <a:cs typeface="Poppins Bold"/>
                <a:sym typeface="Poppins Bold"/>
              </a:rPr>
              <a:t>  </a:t>
            </a:r>
            <a:r>
              <a:rPr lang="en-US" sz="2840" dirty="0">
                <a:solidFill>
                  <a:srgbClr val="1C74BB"/>
                </a:solidFill>
                <a:latin typeface="Poppins"/>
                <a:ea typeface="Poppins"/>
                <a:cs typeface="Poppins"/>
                <a:sym typeface="Poppins"/>
              </a:rPr>
              <a:t>Used to find the optimal boundary for separating classes in high-dimensional data. </a:t>
            </a:r>
          </a:p>
          <a:p>
            <a:pPr algn="l">
              <a:lnSpc>
                <a:spcPts val="3976"/>
              </a:lnSpc>
            </a:pPr>
            <a:endParaRPr lang="en-US" sz="2840" dirty="0">
              <a:solidFill>
                <a:srgbClr val="1C74BB"/>
              </a:solidFill>
              <a:latin typeface="Poppins"/>
              <a:ea typeface="Poppins"/>
              <a:cs typeface="Poppins"/>
              <a:sym typeface="Poppins"/>
            </a:endParaRPr>
          </a:p>
          <a:p>
            <a:pPr algn="l">
              <a:lnSpc>
                <a:spcPts val="3976"/>
              </a:lnSpc>
            </a:pPr>
            <a:r>
              <a:rPr lang="en-US" sz="2840" b="1" dirty="0">
                <a:solidFill>
                  <a:srgbClr val="1C74BB"/>
                </a:solidFill>
                <a:latin typeface="Poppins Bold"/>
                <a:ea typeface="Poppins Bold"/>
                <a:cs typeface="Poppins Bold"/>
                <a:sym typeface="Poppins Bold"/>
              </a:rPr>
              <a:t>KNN (K-Nearest Neighbors)</a:t>
            </a:r>
          </a:p>
          <a:p>
            <a:pPr algn="l">
              <a:lnSpc>
                <a:spcPts val="3976"/>
              </a:lnSpc>
            </a:pPr>
            <a:r>
              <a:rPr lang="en-US" sz="2840" b="1" dirty="0">
                <a:solidFill>
                  <a:srgbClr val="1C74BB"/>
                </a:solidFill>
                <a:latin typeface="Poppins Bold"/>
                <a:ea typeface="Poppins Bold"/>
                <a:cs typeface="Poppins Bold"/>
                <a:sym typeface="Poppins Bold"/>
              </a:rPr>
              <a:t>  </a:t>
            </a:r>
            <a:r>
              <a:rPr lang="en-US" sz="2840" dirty="0">
                <a:solidFill>
                  <a:srgbClr val="1C74BB"/>
                </a:solidFill>
                <a:latin typeface="Poppins"/>
                <a:ea typeface="Poppins"/>
                <a:cs typeface="Poppins"/>
                <a:sym typeface="Poppins"/>
              </a:rPr>
              <a:t>Used to classify based on similarity by analyzing nearest data points. </a:t>
            </a:r>
          </a:p>
          <a:p>
            <a:pPr algn="l">
              <a:lnSpc>
                <a:spcPts val="3976"/>
              </a:lnSpc>
            </a:pPr>
            <a:endParaRPr lang="en-US" sz="2840" dirty="0">
              <a:solidFill>
                <a:srgbClr val="1C74BB"/>
              </a:solidFill>
              <a:latin typeface="Poppins"/>
              <a:ea typeface="Poppins"/>
              <a:cs typeface="Poppins"/>
              <a:sym typeface="Poppins"/>
            </a:endParaRPr>
          </a:p>
        </p:txBody>
      </p:sp>
      <p:grpSp>
        <p:nvGrpSpPr>
          <p:cNvPr id="5" name="Group 3">
            <a:extLst>
              <a:ext uri="{FF2B5EF4-FFF2-40B4-BE49-F238E27FC236}">
                <a16:creationId xmlns:a16="http://schemas.microsoft.com/office/drawing/2014/main" id="{44934588-317A-FDE4-8CCA-7253DB1B7099}"/>
              </a:ext>
            </a:extLst>
          </p:cNvPr>
          <p:cNvGrpSpPr/>
          <p:nvPr/>
        </p:nvGrpSpPr>
        <p:grpSpPr>
          <a:xfrm>
            <a:off x="192534" y="8294272"/>
            <a:ext cx="1566543" cy="1566543"/>
            <a:chOff x="0" y="0"/>
            <a:chExt cx="812800" cy="812800"/>
          </a:xfrm>
        </p:grpSpPr>
        <p:sp>
          <p:nvSpPr>
            <p:cNvPr id="6" name="Freeform 4">
              <a:extLst>
                <a:ext uri="{FF2B5EF4-FFF2-40B4-BE49-F238E27FC236}">
                  <a16:creationId xmlns:a16="http://schemas.microsoft.com/office/drawing/2014/main" id="{58C42B8B-FD0E-8682-B6C3-B9BE810205A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7D8FF"/>
            </a:solidFill>
          </p:spPr>
        </p:sp>
        <p:sp>
          <p:nvSpPr>
            <p:cNvPr id="7" name="TextBox 5">
              <a:extLst>
                <a:ext uri="{FF2B5EF4-FFF2-40B4-BE49-F238E27FC236}">
                  <a16:creationId xmlns:a16="http://schemas.microsoft.com/office/drawing/2014/main" id="{3D699ABC-8DF6-090F-CA15-C7519948AF3B}"/>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8" name="TextBox 12">
            <a:extLst>
              <a:ext uri="{FF2B5EF4-FFF2-40B4-BE49-F238E27FC236}">
                <a16:creationId xmlns:a16="http://schemas.microsoft.com/office/drawing/2014/main" id="{DFEB69C2-EF8D-0098-C618-A5BDA7FC0B49}"/>
              </a:ext>
            </a:extLst>
          </p:cNvPr>
          <p:cNvSpPr txBox="1"/>
          <p:nvPr/>
        </p:nvSpPr>
        <p:spPr>
          <a:xfrm>
            <a:off x="412829" y="8580066"/>
            <a:ext cx="1272816" cy="1207318"/>
          </a:xfrm>
          <a:prstGeom prst="rect">
            <a:avLst/>
          </a:prstGeom>
        </p:spPr>
        <p:txBody>
          <a:bodyPr wrap="square" lIns="0" tIns="0" rIns="0" bIns="0" rtlCol="0" anchor="t">
            <a:spAutoFit/>
          </a:bodyPr>
          <a:lstStyle/>
          <a:p>
            <a:pPr marL="0" lvl="0" indent="0" algn="l">
              <a:lnSpc>
                <a:spcPts val="9039"/>
              </a:lnSpc>
            </a:pPr>
            <a:r>
              <a:rPr lang="en-US" sz="9515" b="1" dirty="0">
                <a:solidFill>
                  <a:srgbClr val="1C74BB"/>
                </a:solidFill>
                <a:latin typeface="Poppins Bold"/>
                <a:ea typeface="Poppins Bold"/>
                <a:cs typeface="Poppins Bold"/>
                <a:sym typeface="Poppins Bold"/>
              </a:rPr>
              <a:t>12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8F6FF"/>
        </a:solidFill>
        <a:effectLst/>
      </p:bgPr>
    </p:bg>
    <p:spTree>
      <p:nvGrpSpPr>
        <p:cNvPr id="1" name=""/>
        <p:cNvGrpSpPr/>
        <p:nvPr/>
      </p:nvGrpSpPr>
      <p:grpSpPr>
        <a:xfrm>
          <a:off x="0" y="0"/>
          <a:ext cx="0" cy="0"/>
          <a:chOff x="0" y="0"/>
          <a:chExt cx="0" cy="0"/>
        </a:xfrm>
      </p:grpSpPr>
      <p:sp>
        <p:nvSpPr>
          <p:cNvPr id="3" name="Freeform 3"/>
          <p:cNvSpPr/>
          <p:nvPr/>
        </p:nvSpPr>
        <p:spPr>
          <a:xfrm rot="-721374">
            <a:off x="-1084773" y="-3327728"/>
            <a:ext cx="5662001" cy="5721512"/>
          </a:xfrm>
          <a:custGeom>
            <a:avLst/>
            <a:gdLst/>
            <a:ahLst/>
            <a:cxnLst/>
            <a:rect l="l" t="t" r="r" b="b"/>
            <a:pathLst>
              <a:path w="5662001" h="5721512">
                <a:moveTo>
                  <a:pt x="0" y="0"/>
                </a:moveTo>
                <a:lnTo>
                  <a:pt x="5662002" y="0"/>
                </a:lnTo>
                <a:lnTo>
                  <a:pt x="5662002"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rot="-3855666">
            <a:off x="15046734" y="6345056"/>
            <a:ext cx="5662001" cy="5721512"/>
          </a:xfrm>
          <a:custGeom>
            <a:avLst/>
            <a:gdLst/>
            <a:ahLst/>
            <a:cxnLst/>
            <a:rect l="l" t="t" r="r" b="b"/>
            <a:pathLst>
              <a:path w="5662001" h="5721512">
                <a:moveTo>
                  <a:pt x="0" y="0"/>
                </a:moveTo>
                <a:lnTo>
                  <a:pt x="5662001" y="0"/>
                </a:lnTo>
                <a:lnTo>
                  <a:pt x="5662001"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7" name="Group 3">
            <a:extLst>
              <a:ext uri="{FF2B5EF4-FFF2-40B4-BE49-F238E27FC236}">
                <a16:creationId xmlns:a16="http://schemas.microsoft.com/office/drawing/2014/main" id="{199CE629-B0E2-9780-FF1E-EE0E7B048417}"/>
              </a:ext>
            </a:extLst>
          </p:cNvPr>
          <p:cNvGrpSpPr/>
          <p:nvPr/>
        </p:nvGrpSpPr>
        <p:grpSpPr>
          <a:xfrm>
            <a:off x="715390" y="8053539"/>
            <a:ext cx="1566543" cy="1566543"/>
            <a:chOff x="0" y="0"/>
            <a:chExt cx="812800" cy="812800"/>
          </a:xfrm>
        </p:grpSpPr>
        <p:sp>
          <p:nvSpPr>
            <p:cNvPr id="8" name="Freeform 4">
              <a:extLst>
                <a:ext uri="{FF2B5EF4-FFF2-40B4-BE49-F238E27FC236}">
                  <a16:creationId xmlns:a16="http://schemas.microsoft.com/office/drawing/2014/main" id="{0FFA4562-2A45-5E4F-E102-0FB86950836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7D8FF"/>
            </a:solidFill>
          </p:spPr>
        </p:sp>
        <p:sp>
          <p:nvSpPr>
            <p:cNvPr id="9" name="TextBox 5">
              <a:extLst>
                <a:ext uri="{FF2B5EF4-FFF2-40B4-BE49-F238E27FC236}">
                  <a16:creationId xmlns:a16="http://schemas.microsoft.com/office/drawing/2014/main" id="{33F5F78C-A50E-6947-791E-76666BDE65BE}"/>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0" name="TextBox 12">
            <a:extLst>
              <a:ext uri="{FF2B5EF4-FFF2-40B4-BE49-F238E27FC236}">
                <a16:creationId xmlns:a16="http://schemas.microsoft.com/office/drawing/2014/main" id="{2C798563-845A-C300-CC4C-1D4CCD7458B8}"/>
              </a:ext>
            </a:extLst>
          </p:cNvPr>
          <p:cNvSpPr txBox="1"/>
          <p:nvPr/>
        </p:nvSpPr>
        <p:spPr>
          <a:xfrm>
            <a:off x="1028700" y="8245184"/>
            <a:ext cx="1233165" cy="1207318"/>
          </a:xfrm>
          <a:prstGeom prst="rect">
            <a:avLst/>
          </a:prstGeom>
        </p:spPr>
        <p:txBody>
          <a:bodyPr wrap="square" lIns="0" tIns="0" rIns="0" bIns="0" rtlCol="0" anchor="t">
            <a:spAutoFit/>
          </a:bodyPr>
          <a:lstStyle/>
          <a:p>
            <a:pPr marL="0" lvl="0" indent="0" algn="l">
              <a:lnSpc>
                <a:spcPts val="9039"/>
              </a:lnSpc>
            </a:pPr>
            <a:r>
              <a:rPr lang="en-US" sz="9515" b="1" dirty="0">
                <a:solidFill>
                  <a:srgbClr val="1C74BB"/>
                </a:solidFill>
                <a:latin typeface="Poppins Bold"/>
                <a:ea typeface="Poppins Bold"/>
                <a:cs typeface="Poppins Bold"/>
                <a:sym typeface="Poppins Bold"/>
              </a:rPr>
              <a:t>13</a:t>
            </a:r>
          </a:p>
        </p:txBody>
      </p:sp>
      <p:pic>
        <p:nvPicPr>
          <p:cNvPr id="12" name="Picture 11">
            <a:extLst>
              <a:ext uri="{FF2B5EF4-FFF2-40B4-BE49-F238E27FC236}">
                <a16:creationId xmlns:a16="http://schemas.microsoft.com/office/drawing/2014/main" id="{647CC672-54A3-DF93-F3CA-F52A57528A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1990" y="2247900"/>
            <a:ext cx="9242331" cy="573024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8F6FF"/>
        </a:solidFill>
        <a:effectLst/>
      </p:bgPr>
    </p:bg>
    <p:spTree>
      <p:nvGrpSpPr>
        <p:cNvPr id="1" name=""/>
        <p:cNvGrpSpPr/>
        <p:nvPr/>
      </p:nvGrpSpPr>
      <p:grpSpPr>
        <a:xfrm>
          <a:off x="0" y="0"/>
          <a:ext cx="0" cy="0"/>
          <a:chOff x="0" y="0"/>
          <a:chExt cx="0" cy="0"/>
        </a:xfrm>
      </p:grpSpPr>
      <p:sp>
        <p:nvSpPr>
          <p:cNvPr id="2" name="TextBox 2"/>
          <p:cNvSpPr txBox="1"/>
          <p:nvPr/>
        </p:nvSpPr>
        <p:spPr>
          <a:xfrm>
            <a:off x="2503802" y="505893"/>
            <a:ext cx="13073588" cy="1178965"/>
          </a:xfrm>
          <a:prstGeom prst="rect">
            <a:avLst/>
          </a:prstGeom>
        </p:spPr>
        <p:txBody>
          <a:bodyPr lIns="0" tIns="0" rIns="0" bIns="0" rtlCol="0" anchor="t">
            <a:spAutoFit/>
          </a:bodyPr>
          <a:lstStyle/>
          <a:p>
            <a:pPr marL="0" lvl="0" indent="0" algn="l">
              <a:lnSpc>
                <a:spcPts val="8181"/>
              </a:lnSpc>
            </a:pPr>
            <a:r>
              <a:rPr lang="en-US" sz="8612" b="1">
                <a:solidFill>
                  <a:srgbClr val="1C74BB"/>
                </a:solidFill>
                <a:latin typeface="Poppins Bold"/>
                <a:ea typeface="Poppins Bold"/>
                <a:cs typeface="Poppins Bold"/>
                <a:sym typeface="Poppins Bold"/>
              </a:rPr>
              <a:t>EXISTING VS PROPOSED</a:t>
            </a:r>
          </a:p>
        </p:txBody>
      </p:sp>
      <p:sp>
        <p:nvSpPr>
          <p:cNvPr id="3" name="Freeform 3"/>
          <p:cNvSpPr/>
          <p:nvPr/>
        </p:nvSpPr>
        <p:spPr>
          <a:xfrm rot="-3855666">
            <a:off x="15046734" y="6345056"/>
            <a:ext cx="5662001" cy="5721512"/>
          </a:xfrm>
          <a:custGeom>
            <a:avLst/>
            <a:gdLst/>
            <a:ahLst/>
            <a:cxnLst/>
            <a:rect l="l" t="t" r="r" b="b"/>
            <a:pathLst>
              <a:path w="5662001" h="5721512">
                <a:moveTo>
                  <a:pt x="0" y="0"/>
                </a:moveTo>
                <a:lnTo>
                  <a:pt x="5662001" y="0"/>
                </a:lnTo>
                <a:lnTo>
                  <a:pt x="5662001"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715390" y="8128033"/>
            <a:ext cx="1566543" cy="156654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7D8FF"/>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7" name="Group 7"/>
          <p:cNvGrpSpPr/>
          <p:nvPr/>
        </p:nvGrpSpPr>
        <p:grpSpPr>
          <a:xfrm>
            <a:off x="2764456" y="9205812"/>
            <a:ext cx="11878450" cy="55499"/>
            <a:chOff x="0" y="0"/>
            <a:chExt cx="635000" cy="2967"/>
          </a:xfrm>
        </p:grpSpPr>
        <p:sp>
          <p:nvSpPr>
            <p:cNvPr id="8" name="Freeform 8"/>
            <p:cNvSpPr/>
            <p:nvPr/>
          </p:nvSpPr>
          <p:spPr>
            <a:xfrm>
              <a:off x="0" y="0"/>
              <a:ext cx="635000" cy="2967"/>
            </a:xfrm>
            <a:custGeom>
              <a:avLst/>
              <a:gdLst/>
              <a:ahLst/>
              <a:cxnLst/>
              <a:rect l="l" t="t" r="r" b="b"/>
              <a:pathLst>
                <a:path w="635000" h="2967">
                  <a:moveTo>
                    <a:pt x="0" y="0"/>
                  </a:moveTo>
                  <a:lnTo>
                    <a:pt x="635000" y="0"/>
                  </a:lnTo>
                  <a:lnTo>
                    <a:pt x="635000" y="2967"/>
                  </a:lnTo>
                  <a:lnTo>
                    <a:pt x="0" y="2967"/>
                  </a:lnTo>
                  <a:close/>
                </a:path>
              </a:pathLst>
            </a:custGeom>
            <a:solidFill>
              <a:srgbClr val="81C1F4"/>
            </a:solidFill>
          </p:spPr>
        </p:sp>
        <p:sp>
          <p:nvSpPr>
            <p:cNvPr id="9" name="TextBox 9"/>
            <p:cNvSpPr txBox="1"/>
            <p:nvPr/>
          </p:nvSpPr>
          <p:spPr>
            <a:xfrm>
              <a:off x="0" y="-38100"/>
              <a:ext cx="635000" cy="41067"/>
            </a:xfrm>
            <a:prstGeom prst="rect">
              <a:avLst/>
            </a:prstGeom>
          </p:spPr>
          <p:txBody>
            <a:bodyPr lIns="50800" tIns="50800" rIns="50800" bIns="50800" rtlCol="0" anchor="ctr"/>
            <a:lstStyle/>
            <a:p>
              <a:pPr marL="0" lvl="0" indent="0" algn="ctr">
                <a:lnSpc>
                  <a:spcPts val="2659"/>
                </a:lnSpc>
              </a:pPr>
              <a:endParaRPr/>
            </a:p>
          </p:txBody>
        </p:sp>
      </p:grpSp>
      <p:sp>
        <p:nvSpPr>
          <p:cNvPr id="10" name="Freeform 10"/>
          <p:cNvSpPr/>
          <p:nvPr/>
        </p:nvSpPr>
        <p:spPr>
          <a:xfrm>
            <a:off x="2764456" y="1807849"/>
            <a:ext cx="11878450" cy="7103456"/>
          </a:xfrm>
          <a:custGeom>
            <a:avLst/>
            <a:gdLst/>
            <a:ahLst/>
            <a:cxnLst/>
            <a:rect l="l" t="t" r="r" b="b"/>
            <a:pathLst>
              <a:path w="11878450" h="7103456">
                <a:moveTo>
                  <a:pt x="0" y="0"/>
                </a:moveTo>
                <a:lnTo>
                  <a:pt x="11878450" y="0"/>
                </a:lnTo>
                <a:lnTo>
                  <a:pt x="11878450" y="7103456"/>
                </a:lnTo>
                <a:lnTo>
                  <a:pt x="0" y="7103456"/>
                </a:lnTo>
                <a:lnTo>
                  <a:pt x="0" y="0"/>
                </a:lnTo>
                <a:close/>
              </a:path>
            </a:pathLst>
          </a:custGeom>
          <a:blipFill>
            <a:blip r:embed="rId3"/>
            <a:stretch>
              <a:fillRect t="-11669" r="-232"/>
            </a:stretch>
          </a:blipFill>
        </p:spPr>
      </p:sp>
      <p:sp>
        <p:nvSpPr>
          <p:cNvPr id="11" name="TextBox 11"/>
          <p:cNvSpPr txBox="1"/>
          <p:nvPr/>
        </p:nvSpPr>
        <p:spPr>
          <a:xfrm>
            <a:off x="1028700" y="8319678"/>
            <a:ext cx="1553934" cy="1207318"/>
          </a:xfrm>
          <a:prstGeom prst="rect">
            <a:avLst/>
          </a:prstGeom>
        </p:spPr>
        <p:txBody>
          <a:bodyPr lIns="0" tIns="0" rIns="0" bIns="0" rtlCol="0" anchor="t">
            <a:spAutoFit/>
          </a:bodyPr>
          <a:lstStyle/>
          <a:p>
            <a:pPr marL="0" lvl="0" indent="0" algn="l">
              <a:lnSpc>
                <a:spcPts val="9039"/>
              </a:lnSpc>
            </a:pPr>
            <a:r>
              <a:rPr lang="en-US" sz="9515" b="1" dirty="0">
                <a:solidFill>
                  <a:srgbClr val="1C74BB"/>
                </a:solidFill>
                <a:latin typeface="Poppins Bold"/>
                <a:ea typeface="Poppins Bold"/>
                <a:cs typeface="Poppins Bold"/>
                <a:sym typeface="Poppins Bold"/>
              </a:rPr>
              <a:t>14</a:t>
            </a:r>
          </a:p>
        </p:txBody>
      </p:sp>
      <p:sp>
        <p:nvSpPr>
          <p:cNvPr id="12" name="TextBox 12"/>
          <p:cNvSpPr txBox="1"/>
          <p:nvPr/>
        </p:nvSpPr>
        <p:spPr>
          <a:xfrm>
            <a:off x="2764456" y="4181949"/>
            <a:ext cx="851913" cy="807023"/>
          </a:xfrm>
          <a:prstGeom prst="rect">
            <a:avLst/>
          </a:prstGeom>
        </p:spPr>
        <p:txBody>
          <a:bodyPr lIns="0" tIns="0" rIns="0" bIns="0" rtlCol="0" anchor="t">
            <a:spAutoFit/>
          </a:bodyPr>
          <a:lstStyle/>
          <a:p>
            <a:pPr marL="0" lvl="0" indent="0" algn="l">
              <a:lnSpc>
                <a:spcPts val="5506"/>
              </a:lnSpc>
            </a:pPr>
            <a:endParaRPr/>
          </a:p>
        </p:txBody>
      </p:sp>
      <p:sp>
        <p:nvSpPr>
          <p:cNvPr id="13" name="TextBox 13"/>
          <p:cNvSpPr txBox="1"/>
          <p:nvPr/>
        </p:nvSpPr>
        <p:spPr>
          <a:xfrm>
            <a:off x="2764456" y="5745573"/>
            <a:ext cx="851913" cy="807023"/>
          </a:xfrm>
          <a:prstGeom prst="rect">
            <a:avLst/>
          </a:prstGeom>
        </p:spPr>
        <p:txBody>
          <a:bodyPr lIns="0" tIns="0" rIns="0" bIns="0" rtlCol="0" anchor="t">
            <a:spAutoFit/>
          </a:bodyPr>
          <a:lstStyle/>
          <a:p>
            <a:pPr marL="0" lvl="0" indent="0" algn="l">
              <a:lnSpc>
                <a:spcPts val="5506"/>
              </a:lnSpc>
            </a:pPr>
            <a:endParaRPr/>
          </a:p>
        </p:txBody>
      </p:sp>
      <p:sp>
        <p:nvSpPr>
          <p:cNvPr id="14" name="TextBox 14"/>
          <p:cNvSpPr txBox="1"/>
          <p:nvPr/>
        </p:nvSpPr>
        <p:spPr>
          <a:xfrm>
            <a:off x="2764456" y="7309197"/>
            <a:ext cx="1580066" cy="807023"/>
          </a:xfrm>
          <a:prstGeom prst="rect">
            <a:avLst/>
          </a:prstGeom>
        </p:spPr>
        <p:txBody>
          <a:bodyPr lIns="0" tIns="0" rIns="0" bIns="0" rtlCol="0" anchor="t">
            <a:spAutoFit/>
          </a:bodyPr>
          <a:lstStyle/>
          <a:p>
            <a:pPr marL="0" lvl="0" indent="0" algn="l">
              <a:lnSpc>
                <a:spcPts val="5506"/>
              </a:lnSpc>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8F6FF"/>
        </a:solidFill>
        <a:effectLst/>
      </p:bgPr>
    </p:bg>
    <p:spTree>
      <p:nvGrpSpPr>
        <p:cNvPr id="1" name=""/>
        <p:cNvGrpSpPr/>
        <p:nvPr/>
      </p:nvGrpSpPr>
      <p:grpSpPr>
        <a:xfrm>
          <a:off x="0" y="0"/>
          <a:ext cx="0" cy="0"/>
          <a:chOff x="0" y="0"/>
          <a:chExt cx="0" cy="0"/>
        </a:xfrm>
      </p:grpSpPr>
      <p:sp>
        <p:nvSpPr>
          <p:cNvPr id="2" name="Freeform 2"/>
          <p:cNvSpPr/>
          <p:nvPr/>
        </p:nvSpPr>
        <p:spPr>
          <a:xfrm rot="-721374">
            <a:off x="-1084773" y="-3327728"/>
            <a:ext cx="5662001" cy="5721512"/>
          </a:xfrm>
          <a:custGeom>
            <a:avLst/>
            <a:gdLst/>
            <a:ahLst/>
            <a:cxnLst/>
            <a:rect l="l" t="t" r="r" b="b"/>
            <a:pathLst>
              <a:path w="5662001" h="5721512">
                <a:moveTo>
                  <a:pt x="0" y="0"/>
                </a:moveTo>
                <a:lnTo>
                  <a:pt x="5662002" y="0"/>
                </a:lnTo>
                <a:lnTo>
                  <a:pt x="5662002"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3855666">
            <a:off x="15046734" y="6345056"/>
            <a:ext cx="5662001" cy="5721512"/>
          </a:xfrm>
          <a:custGeom>
            <a:avLst/>
            <a:gdLst/>
            <a:ahLst/>
            <a:cxnLst/>
            <a:rect l="l" t="t" r="r" b="b"/>
            <a:pathLst>
              <a:path w="5662001" h="5721512">
                <a:moveTo>
                  <a:pt x="0" y="0"/>
                </a:moveTo>
                <a:lnTo>
                  <a:pt x="5662001" y="0"/>
                </a:lnTo>
                <a:lnTo>
                  <a:pt x="5662001" y="5721512"/>
                </a:lnTo>
                <a:lnTo>
                  <a:pt x="0" y="572151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5548717" y="325452"/>
            <a:ext cx="7961590" cy="1422312"/>
          </a:xfrm>
          <a:prstGeom prst="rect">
            <a:avLst/>
          </a:prstGeom>
        </p:spPr>
        <p:txBody>
          <a:bodyPr lIns="0" tIns="0" rIns="0" bIns="0" rtlCol="0" anchor="t">
            <a:spAutoFit/>
          </a:bodyPr>
          <a:lstStyle/>
          <a:p>
            <a:pPr algn="ctr">
              <a:lnSpc>
                <a:spcPts val="12053"/>
              </a:lnSpc>
              <a:spcBef>
                <a:spcPct val="0"/>
              </a:spcBef>
            </a:pPr>
            <a:r>
              <a:rPr lang="en-US" sz="7200" b="1" dirty="0">
                <a:solidFill>
                  <a:srgbClr val="1C74BB"/>
                </a:solidFill>
                <a:latin typeface="Poppins Bold"/>
                <a:ea typeface="Poppins Bold"/>
                <a:cs typeface="Poppins Bold"/>
                <a:sym typeface="Poppins Bold"/>
              </a:rPr>
              <a:t>FUTURE SCOPE</a:t>
            </a:r>
          </a:p>
        </p:txBody>
      </p:sp>
      <p:sp>
        <p:nvSpPr>
          <p:cNvPr id="5" name="TextBox 5"/>
          <p:cNvSpPr txBox="1"/>
          <p:nvPr/>
        </p:nvSpPr>
        <p:spPr>
          <a:xfrm>
            <a:off x="2204371" y="2358105"/>
            <a:ext cx="12735702" cy="7291702"/>
          </a:xfrm>
          <a:prstGeom prst="rect">
            <a:avLst/>
          </a:prstGeom>
        </p:spPr>
        <p:txBody>
          <a:bodyPr lIns="0" tIns="0" rIns="0" bIns="0" rtlCol="0" anchor="t">
            <a:spAutoFit/>
          </a:bodyPr>
          <a:lstStyle/>
          <a:p>
            <a:pPr algn="just">
              <a:lnSpc>
                <a:spcPts val="3395"/>
              </a:lnSpc>
              <a:spcBef>
                <a:spcPct val="0"/>
              </a:spcBef>
            </a:pPr>
            <a:r>
              <a:rPr lang="en-US" sz="2425" b="1">
                <a:solidFill>
                  <a:srgbClr val="1C74BB"/>
                </a:solidFill>
                <a:latin typeface="Poppins Bold"/>
                <a:ea typeface="Poppins Bold"/>
                <a:cs typeface="Poppins Bold"/>
                <a:sym typeface="Poppins Bold"/>
              </a:rPr>
              <a:t>Real-Time Data Analysis</a:t>
            </a:r>
          </a:p>
          <a:p>
            <a:pPr algn="just">
              <a:lnSpc>
                <a:spcPts val="3395"/>
              </a:lnSpc>
              <a:spcBef>
                <a:spcPct val="0"/>
              </a:spcBef>
            </a:pPr>
            <a:r>
              <a:rPr lang="en-US" sz="2425">
                <a:solidFill>
                  <a:srgbClr val="1C74BB"/>
                </a:solidFill>
                <a:latin typeface="Poppins"/>
                <a:ea typeface="Poppins"/>
                <a:cs typeface="Poppins"/>
                <a:sym typeface="Poppins"/>
              </a:rPr>
              <a:t> Enable real-time monitoring of student performance using live data.</a:t>
            </a:r>
          </a:p>
          <a:p>
            <a:pPr algn="just">
              <a:lnSpc>
                <a:spcPts val="3395"/>
              </a:lnSpc>
              <a:spcBef>
                <a:spcPct val="0"/>
              </a:spcBef>
            </a:pPr>
            <a:r>
              <a:rPr lang="en-US" sz="2425">
                <a:solidFill>
                  <a:srgbClr val="1C74BB"/>
                </a:solidFill>
                <a:latin typeface="Poppins"/>
                <a:ea typeface="Poppins"/>
                <a:cs typeface="Poppins"/>
                <a:sym typeface="Poppins"/>
              </a:rPr>
              <a:t> </a:t>
            </a:r>
          </a:p>
          <a:p>
            <a:pPr algn="just">
              <a:lnSpc>
                <a:spcPts val="3395"/>
              </a:lnSpc>
              <a:spcBef>
                <a:spcPct val="0"/>
              </a:spcBef>
            </a:pPr>
            <a:r>
              <a:rPr lang="en-US" sz="2425" b="1">
                <a:solidFill>
                  <a:srgbClr val="1C74BB"/>
                </a:solidFill>
                <a:latin typeface="Poppins Bold"/>
                <a:ea typeface="Poppins Bold"/>
                <a:cs typeface="Poppins Bold"/>
                <a:sym typeface="Poppins Bold"/>
              </a:rPr>
              <a:t>Mobile Application Development</a:t>
            </a:r>
          </a:p>
          <a:p>
            <a:pPr algn="just">
              <a:lnSpc>
                <a:spcPts val="3395"/>
              </a:lnSpc>
              <a:spcBef>
                <a:spcPct val="0"/>
              </a:spcBef>
            </a:pPr>
            <a:r>
              <a:rPr lang="en-US" sz="2425">
                <a:solidFill>
                  <a:srgbClr val="1C74BB"/>
                </a:solidFill>
                <a:latin typeface="Poppins"/>
                <a:ea typeface="Poppins"/>
                <a:cs typeface="Poppins"/>
                <a:sym typeface="Poppins"/>
              </a:rPr>
              <a:t> Develop a mobile application for better accessibility and ease of use.</a:t>
            </a:r>
          </a:p>
          <a:p>
            <a:pPr algn="just">
              <a:lnSpc>
                <a:spcPts val="3395"/>
              </a:lnSpc>
              <a:spcBef>
                <a:spcPct val="0"/>
              </a:spcBef>
            </a:pPr>
            <a:r>
              <a:rPr lang="en-US" sz="2425">
                <a:solidFill>
                  <a:srgbClr val="1C74BB"/>
                </a:solidFill>
                <a:latin typeface="Poppins"/>
                <a:ea typeface="Poppins"/>
                <a:cs typeface="Poppins"/>
                <a:sym typeface="Poppins"/>
              </a:rPr>
              <a:t> </a:t>
            </a:r>
          </a:p>
          <a:p>
            <a:pPr algn="just">
              <a:lnSpc>
                <a:spcPts val="3395"/>
              </a:lnSpc>
              <a:spcBef>
                <a:spcPct val="0"/>
              </a:spcBef>
            </a:pPr>
            <a:r>
              <a:rPr lang="en-US" sz="2425" b="1">
                <a:solidFill>
                  <a:srgbClr val="1C74BB"/>
                </a:solidFill>
                <a:latin typeface="Poppins Bold"/>
                <a:ea typeface="Poppins Bold"/>
                <a:cs typeface="Poppins Bold"/>
                <a:sym typeface="Poppins Bold"/>
              </a:rPr>
              <a:t>Personalized Recommendations(LLM)</a:t>
            </a:r>
          </a:p>
          <a:p>
            <a:pPr algn="just">
              <a:lnSpc>
                <a:spcPts val="3395"/>
              </a:lnSpc>
              <a:spcBef>
                <a:spcPct val="0"/>
              </a:spcBef>
            </a:pPr>
            <a:r>
              <a:rPr lang="en-US" sz="2425">
                <a:solidFill>
                  <a:srgbClr val="1C74BB"/>
                </a:solidFill>
                <a:latin typeface="Poppins"/>
                <a:ea typeface="Poppins"/>
                <a:cs typeface="Poppins"/>
                <a:sym typeface="Poppins"/>
              </a:rPr>
              <a:t> Provide customized suggestions for students based on their performance.</a:t>
            </a:r>
          </a:p>
          <a:p>
            <a:pPr algn="just">
              <a:lnSpc>
                <a:spcPts val="3395"/>
              </a:lnSpc>
              <a:spcBef>
                <a:spcPct val="0"/>
              </a:spcBef>
            </a:pPr>
            <a:r>
              <a:rPr lang="en-US" sz="2425">
                <a:solidFill>
                  <a:srgbClr val="1C74BB"/>
                </a:solidFill>
                <a:latin typeface="Poppins"/>
                <a:ea typeface="Poppins"/>
                <a:cs typeface="Poppins"/>
                <a:sym typeface="Poppins"/>
              </a:rPr>
              <a:t> </a:t>
            </a:r>
          </a:p>
          <a:p>
            <a:pPr algn="just">
              <a:lnSpc>
                <a:spcPts val="3395"/>
              </a:lnSpc>
              <a:spcBef>
                <a:spcPct val="0"/>
              </a:spcBef>
            </a:pPr>
            <a:r>
              <a:rPr lang="en-US" sz="2425" b="1">
                <a:solidFill>
                  <a:srgbClr val="1C74BB"/>
                </a:solidFill>
                <a:latin typeface="Poppins Bold"/>
                <a:ea typeface="Poppins Bold"/>
                <a:cs typeface="Poppins Bold"/>
                <a:sym typeface="Poppins Bold"/>
              </a:rPr>
              <a:t>Integration with Educational Platforms</a:t>
            </a:r>
          </a:p>
          <a:p>
            <a:pPr algn="just">
              <a:lnSpc>
                <a:spcPts val="3395"/>
              </a:lnSpc>
              <a:spcBef>
                <a:spcPct val="0"/>
              </a:spcBef>
            </a:pPr>
            <a:r>
              <a:rPr lang="en-US" sz="2425">
                <a:solidFill>
                  <a:srgbClr val="1C74BB"/>
                </a:solidFill>
                <a:latin typeface="Poppins"/>
                <a:ea typeface="Poppins"/>
                <a:cs typeface="Poppins"/>
                <a:sym typeface="Poppins"/>
              </a:rPr>
              <a:t> Integrate the system with existing learning management systems. </a:t>
            </a:r>
          </a:p>
          <a:p>
            <a:pPr algn="just">
              <a:lnSpc>
                <a:spcPts val="3395"/>
              </a:lnSpc>
              <a:spcBef>
                <a:spcPct val="0"/>
              </a:spcBef>
            </a:pPr>
            <a:endParaRPr lang="en-US" sz="2425">
              <a:solidFill>
                <a:srgbClr val="1C74BB"/>
              </a:solidFill>
              <a:latin typeface="Poppins"/>
              <a:ea typeface="Poppins"/>
              <a:cs typeface="Poppins"/>
              <a:sym typeface="Poppins"/>
            </a:endParaRPr>
          </a:p>
          <a:p>
            <a:pPr algn="just">
              <a:lnSpc>
                <a:spcPts val="3395"/>
              </a:lnSpc>
              <a:spcBef>
                <a:spcPct val="0"/>
              </a:spcBef>
            </a:pPr>
            <a:r>
              <a:rPr lang="en-US" sz="2425" b="1">
                <a:solidFill>
                  <a:srgbClr val="1C74BB"/>
                </a:solidFill>
                <a:latin typeface="Poppins Bold"/>
                <a:ea typeface="Poppins Bold"/>
                <a:cs typeface="Poppins Bold"/>
                <a:sym typeface="Poppins Bold"/>
              </a:rPr>
              <a:t>Data Expansion</a:t>
            </a:r>
          </a:p>
          <a:p>
            <a:pPr algn="just">
              <a:lnSpc>
                <a:spcPts val="3395"/>
              </a:lnSpc>
              <a:spcBef>
                <a:spcPct val="0"/>
              </a:spcBef>
            </a:pPr>
            <a:r>
              <a:rPr lang="en-US" sz="2425">
                <a:solidFill>
                  <a:srgbClr val="1C74BB"/>
                </a:solidFill>
                <a:latin typeface="Poppins"/>
                <a:ea typeface="Poppins"/>
                <a:cs typeface="Poppins"/>
                <a:sym typeface="Poppins"/>
              </a:rPr>
              <a:t> Include more features such as behavioral data and extracurricular activities.</a:t>
            </a:r>
          </a:p>
          <a:p>
            <a:pPr algn="just">
              <a:lnSpc>
                <a:spcPts val="3395"/>
              </a:lnSpc>
              <a:spcBef>
                <a:spcPct val="0"/>
              </a:spcBef>
            </a:pPr>
            <a:r>
              <a:rPr lang="en-US" sz="2425">
                <a:solidFill>
                  <a:srgbClr val="1C74BB"/>
                </a:solidFill>
                <a:latin typeface="Poppins"/>
                <a:ea typeface="Poppins"/>
                <a:cs typeface="Poppins"/>
                <a:sym typeface="Poppins"/>
              </a:rPr>
              <a:t> </a:t>
            </a:r>
          </a:p>
          <a:p>
            <a:pPr algn="just">
              <a:lnSpc>
                <a:spcPts val="3395"/>
              </a:lnSpc>
              <a:spcBef>
                <a:spcPct val="0"/>
              </a:spcBef>
            </a:pPr>
            <a:r>
              <a:rPr lang="en-US" sz="2425" b="1">
                <a:solidFill>
                  <a:srgbClr val="1C74BB"/>
                </a:solidFill>
                <a:latin typeface="Poppins Bold"/>
                <a:ea typeface="Poppins Bold"/>
                <a:cs typeface="Poppins Bold"/>
                <a:sym typeface="Poppins Bold"/>
              </a:rPr>
              <a:t>Visualization Enhancements</a:t>
            </a:r>
          </a:p>
          <a:p>
            <a:pPr algn="just">
              <a:lnSpc>
                <a:spcPts val="3395"/>
              </a:lnSpc>
              <a:spcBef>
                <a:spcPct val="0"/>
              </a:spcBef>
            </a:pPr>
            <a:r>
              <a:rPr lang="en-US" sz="2425">
                <a:solidFill>
                  <a:srgbClr val="1C74BB"/>
                </a:solidFill>
                <a:latin typeface="Poppins"/>
                <a:ea typeface="Poppins"/>
                <a:cs typeface="Poppins"/>
                <a:sym typeface="Poppins"/>
              </a:rPr>
              <a:t> Add advanced dashboards and interactive visualizations. </a:t>
            </a:r>
          </a:p>
        </p:txBody>
      </p:sp>
      <p:grpSp>
        <p:nvGrpSpPr>
          <p:cNvPr id="6" name="Group 3">
            <a:extLst>
              <a:ext uri="{FF2B5EF4-FFF2-40B4-BE49-F238E27FC236}">
                <a16:creationId xmlns:a16="http://schemas.microsoft.com/office/drawing/2014/main" id="{B195DA75-69F4-CC19-E8D6-536C7FF51FC4}"/>
              </a:ext>
            </a:extLst>
          </p:cNvPr>
          <p:cNvGrpSpPr/>
          <p:nvPr/>
        </p:nvGrpSpPr>
        <p:grpSpPr>
          <a:xfrm>
            <a:off x="715390" y="8053539"/>
            <a:ext cx="1566543" cy="1566543"/>
            <a:chOff x="0" y="0"/>
            <a:chExt cx="812800" cy="812800"/>
          </a:xfrm>
        </p:grpSpPr>
        <p:sp>
          <p:nvSpPr>
            <p:cNvPr id="7" name="Freeform 4">
              <a:extLst>
                <a:ext uri="{FF2B5EF4-FFF2-40B4-BE49-F238E27FC236}">
                  <a16:creationId xmlns:a16="http://schemas.microsoft.com/office/drawing/2014/main" id="{0D6808CB-00F4-2CF1-7C47-BCF8AD7A145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7D8FF"/>
            </a:solidFill>
          </p:spPr>
        </p:sp>
        <p:sp>
          <p:nvSpPr>
            <p:cNvPr id="8" name="TextBox 5">
              <a:extLst>
                <a:ext uri="{FF2B5EF4-FFF2-40B4-BE49-F238E27FC236}">
                  <a16:creationId xmlns:a16="http://schemas.microsoft.com/office/drawing/2014/main" id="{D6244AAB-5B0E-42D1-F3D9-0B8362A4741D}"/>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9" name="TextBox 12">
            <a:extLst>
              <a:ext uri="{FF2B5EF4-FFF2-40B4-BE49-F238E27FC236}">
                <a16:creationId xmlns:a16="http://schemas.microsoft.com/office/drawing/2014/main" id="{47A5A679-3A3B-F11C-F8A0-7C1F095B5669}"/>
              </a:ext>
            </a:extLst>
          </p:cNvPr>
          <p:cNvSpPr txBox="1"/>
          <p:nvPr/>
        </p:nvSpPr>
        <p:spPr>
          <a:xfrm>
            <a:off x="1028700" y="8245184"/>
            <a:ext cx="1400096" cy="1207318"/>
          </a:xfrm>
          <a:prstGeom prst="rect">
            <a:avLst/>
          </a:prstGeom>
        </p:spPr>
        <p:txBody>
          <a:bodyPr wrap="square" lIns="0" tIns="0" rIns="0" bIns="0" rtlCol="0" anchor="t">
            <a:spAutoFit/>
          </a:bodyPr>
          <a:lstStyle/>
          <a:p>
            <a:pPr marL="0" lvl="0" indent="0" algn="l">
              <a:lnSpc>
                <a:spcPts val="9039"/>
              </a:lnSpc>
            </a:pPr>
            <a:r>
              <a:rPr lang="en-US" sz="9515" b="1" dirty="0">
                <a:solidFill>
                  <a:srgbClr val="1C74BB"/>
                </a:solidFill>
                <a:latin typeface="Poppins Bold"/>
                <a:ea typeface="Poppins Bold"/>
                <a:cs typeface="Poppins Bold"/>
                <a:sym typeface="Poppins Bold"/>
              </a:rPr>
              <a:t>15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8F6FF"/>
        </a:solidFill>
        <a:effectLst/>
      </p:bgPr>
    </p:bg>
    <p:spTree>
      <p:nvGrpSpPr>
        <p:cNvPr id="1" name=""/>
        <p:cNvGrpSpPr/>
        <p:nvPr/>
      </p:nvGrpSpPr>
      <p:grpSpPr>
        <a:xfrm>
          <a:off x="0" y="0"/>
          <a:ext cx="0" cy="0"/>
          <a:chOff x="0" y="0"/>
          <a:chExt cx="0" cy="0"/>
        </a:xfrm>
      </p:grpSpPr>
      <p:sp>
        <p:nvSpPr>
          <p:cNvPr id="2" name="TextBox 2"/>
          <p:cNvSpPr txBox="1"/>
          <p:nvPr/>
        </p:nvSpPr>
        <p:spPr>
          <a:xfrm>
            <a:off x="4829218" y="4040470"/>
            <a:ext cx="8064037" cy="1427672"/>
          </a:xfrm>
          <a:prstGeom prst="rect">
            <a:avLst/>
          </a:prstGeom>
        </p:spPr>
        <p:txBody>
          <a:bodyPr lIns="0" tIns="0" rIns="0" bIns="0" rtlCol="0" anchor="t">
            <a:spAutoFit/>
          </a:bodyPr>
          <a:lstStyle/>
          <a:p>
            <a:pPr marL="0" lvl="0" indent="0" algn="l">
              <a:lnSpc>
                <a:spcPts val="9853"/>
              </a:lnSpc>
            </a:pPr>
            <a:r>
              <a:rPr lang="en-US" sz="10372" b="1">
                <a:solidFill>
                  <a:srgbClr val="1C74BB"/>
                </a:solidFill>
                <a:latin typeface="Poppins Bold"/>
                <a:ea typeface="Poppins Bold"/>
                <a:cs typeface="Poppins Bold"/>
                <a:sym typeface="Poppins Bold"/>
              </a:rPr>
              <a:t>THANK YOU</a:t>
            </a:r>
          </a:p>
        </p:txBody>
      </p:sp>
      <p:sp>
        <p:nvSpPr>
          <p:cNvPr id="3" name="Freeform 3"/>
          <p:cNvSpPr/>
          <p:nvPr/>
        </p:nvSpPr>
        <p:spPr>
          <a:xfrm rot="4644591">
            <a:off x="14264060" y="-3736254"/>
            <a:ext cx="8047880" cy="8132468"/>
          </a:xfrm>
          <a:custGeom>
            <a:avLst/>
            <a:gdLst/>
            <a:ahLst/>
            <a:cxnLst/>
            <a:rect l="l" t="t" r="r" b="b"/>
            <a:pathLst>
              <a:path w="8047880" h="8132468">
                <a:moveTo>
                  <a:pt x="0" y="0"/>
                </a:moveTo>
                <a:lnTo>
                  <a:pt x="8047880" y="0"/>
                </a:lnTo>
                <a:lnTo>
                  <a:pt x="8047880" y="8132467"/>
                </a:lnTo>
                <a:lnTo>
                  <a:pt x="0" y="813246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rot="934430">
            <a:off x="-2995240" y="5755692"/>
            <a:ext cx="8047880" cy="8132468"/>
          </a:xfrm>
          <a:custGeom>
            <a:avLst/>
            <a:gdLst/>
            <a:ahLst/>
            <a:cxnLst/>
            <a:rect l="l" t="t" r="r" b="b"/>
            <a:pathLst>
              <a:path w="8047880" h="8132468">
                <a:moveTo>
                  <a:pt x="0" y="0"/>
                </a:moveTo>
                <a:lnTo>
                  <a:pt x="8047880" y="0"/>
                </a:lnTo>
                <a:lnTo>
                  <a:pt x="8047880" y="8132468"/>
                </a:lnTo>
                <a:lnTo>
                  <a:pt x="0" y="813246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0799954" y="6558727"/>
            <a:ext cx="6030444" cy="2623243"/>
          </a:xfrm>
          <a:custGeom>
            <a:avLst/>
            <a:gdLst/>
            <a:ahLst/>
            <a:cxnLst/>
            <a:rect l="l" t="t" r="r" b="b"/>
            <a:pathLst>
              <a:path w="6030444" h="2623243">
                <a:moveTo>
                  <a:pt x="0" y="0"/>
                </a:moveTo>
                <a:lnTo>
                  <a:pt x="6030444" y="0"/>
                </a:lnTo>
                <a:lnTo>
                  <a:pt x="6030444" y="2623244"/>
                </a:lnTo>
                <a:lnTo>
                  <a:pt x="0" y="2623244"/>
                </a:lnTo>
                <a:lnTo>
                  <a:pt x="0" y="0"/>
                </a:lnTo>
                <a:close/>
              </a:path>
            </a:pathLst>
          </a:custGeom>
          <a:blipFill>
            <a:blip r:embed="rId3"/>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TotalTime>
  <Words>873</Words>
  <Application>Microsoft Office PowerPoint</Application>
  <PresentationFormat>Custom</PresentationFormat>
  <Paragraphs>86</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Wingdings</vt:lpstr>
      <vt:lpstr>Calibri</vt:lpstr>
      <vt:lpstr>Poppins Bold</vt:lpstr>
      <vt:lpstr>Poppins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Performance ANALYSIS</dc:title>
  <dc:creator>Yamini Priya Gaddipati</dc:creator>
  <cp:lastModifiedBy>Siva kumar Rajavarapu</cp:lastModifiedBy>
  <cp:revision>19</cp:revision>
  <dcterms:created xsi:type="dcterms:W3CDTF">2006-08-16T00:00:00Z</dcterms:created>
  <dcterms:modified xsi:type="dcterms:W3CDTF">2026-07-24T11:47:25Z</dcterms:modified>
  <dc:identifier>DAHIVx_2ZA4</dc:identifier>
</cp:coreProperties>
</file>